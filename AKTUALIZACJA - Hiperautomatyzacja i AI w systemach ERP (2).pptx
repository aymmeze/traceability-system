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7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8" r:id="rId28"/>
    <p:sldId id="281" r:id="rId29"/>
    <p:sldId id="282" r:id="rId30"/>
    <p:sldId id="283" r:id="rId31"/>
    <p:sldId id="284" r:id="rId32"/>
    <p:sldId id="285" r:id="rId33"/>
  </p:sldIdLst>
  <p:sldSz cx="12192000" cy="6858000"/>
  <p:notesSz cx="6858000" cy="9144000"/>
  <p:defaultTextStyle>
    <a:defPPr>
      <a:defRPr lang="pl-P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3932" autoAdjust="0"/>
  </p:normalViewPr>
  <p:slideViewPr>
    <p:cSldViewPr snapToGrid="0">
      <p:cViewPr varScale="1">
        <p:scale>
          <a:sx n="96" d="100"/>
          <a:sy n="96" d="100"/>
        </p:scale>
        <p:origin x="114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A513FD9-C8DC-FC7D-8398-F37195FA7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138A1B-5459-44B6-BC42-FD9D270B3BB0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82CBF57-B809-C5A4-503F-CB0305ADD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C4BF3CCC-7F67-7107-F1FA-2E9BA850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CC1A49-13C4-4B6E-BB09-D4AC6DA7B119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85301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A837560-E33B-4B3B-85F8-089585F00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D59B62-ECFC-4BD2-8D12-F8C97CC4BC5D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2441DE86-5C94-E98E-1A94-8C5782FA3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4D395BBE-9ABB-D42C-48F5-B71710758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2AB68D-CE0D-40ED-B848-0993B8BEF557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75379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7BF995C-8B79-2F32-8A57-454BF381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7ACB4-8334-4614-BB1B-ECD43001B880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FC4AFCCA-099A-DF97-9A77-5B69853E4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0D8DACD-1A8E-AC7B-8E85-DB1DA57F6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6F8A90-F426-4404-AD30-6EBC41402C51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4091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3">
            <a:extLst>
              <a:ext uri="{FF2B5EF4-FFF2-40B4-BE49-F238E27FC236}">
                <a16:creationId xmlns:a16="http://schemas.microsoft.com/office/drawing/2014/main" id="{68509F2B-05BB-A4DE-1A67-B63342C27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8E2143-04A5-44D7-8B70-961E3D406223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6" name="Symbol zastępczy stopki 4">
            <a:extLst>
              <a:ext uri="{FF2B5EF4-FFF2-40B4-BE49-F238E27FC236}">
                <a16:creationId xmlns:a16="http://schemas.microsoft.com/office/drawing/2014/main" id="{0B4FD884-9483-A616-1647-F5C6BBB04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5">
            <a:extLst>
              <a:ext uri="{FF2B5EF4-FFF2-40B4-BE49-F238E27FC236}">
                <a16:creationId xmlns:a16="http://schemas.microsoft.com/office/drawing/2014/main" id="{D05D90B0-BE88-9305-6DA8-9EF23736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F1A2B5-DF5C-4D67-A9A7-1BC0F94E5FB3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510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3">
            <a:extLst>
              <a:ext uri="{FF2B5EF4-FFF2-40B4-BE49-F238E27FC236}">
                <a16:creationId xmlns:a16="http://schemas.microsoft.com/office/drawing/2014/main" id="{B15DCFC3-FC2C-BF16-4DA9-322225AC5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886177-7B9E-4450-87C4-C87B8496A0D0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8" name="Symbol zastępczy stopki 4">
            <a:extLst>
              <a:ext uri="{FF2B5EF4-FFF2-40B4-BE49-F238E27FC236}">
                <a16:creationId xmlns:a16="http://schemas.microsoft.com/office/drawing/2014/main" id="{52F9910C-7872-9795-2C31-1773CBFD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9" name="Symbol zastępczy numeru slajdu 5">
            <a:extLst>
              <a:ext uri="{FF2B5EF4-FFF2-40B4-BE49-F238E27FC236}">
                <a16:creationId xmlns:a16="http://schemas.microsoft.com/office/drawing/2014/main" id="{D29EE037-C62B-4725-1D24-5F1985280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705BBB-B2DD-4AA0-B08F-4EF5CB1F6D09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0912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3">
            <a:extLst>
              <a:ext uri="{FF2B5EF4-FFF2-40B4-BE49-F238E27FC236}">
                <a16:creationId xmlns:a16="http://schemas.microsoft.com/office/drawing/2014/main" id="{F24ABC97-8C25-7044-80AD-0917D0C78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09040A-758E-4667-8BCA-13EABADA4952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4" name="Symbol zastępczy stopki 4">
            <a:extLst>
              <a:ext uri="{FF2B5EF4-FFF2-40B4-BE49-F238E27FC236}">
                <a16:creationId xmlns:a16="http://schemas.microsoft.com/office/drawing/2014/main" id="{9EA89001-C481-0E32-5814-10EE3823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5" name="Symbol zastępczy numeru slajdu 5">
            <a:extLst>
              <a:ext uri="{FF2B5EF4-FFF2-40B4-BE49-F238E27FC236}">
                <a16:creationId xmlns:a16="http://schemas.microsoft.com/office/drawing/2014/main" id="{07EBD8B2-B735-0666-E81B-C6C05A017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6A9789-62A2-4EBA-A7A9-1841CA98B6A1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542551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3">
            <a:extLst>
              <a:ext uri="{FF2B5EF4-FFF2-40B4-BE49-F238E27FC236}">
                <a16:creationId xmlns:a16="http://schemas.microsoft.com/office/drawing/2014/main" id="{DA1C3504-3016-1C76-8F82-70CD920BA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6FF7D8-DF72-4865-8EA5-43B9B511FED8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3" name="Symbol zastępczy stopki 4">
            <a:extLst>
              <a:ext uri="{FF2B5EF4-FFF2-40B4-BE49-F238E27FC236}">
                <a16:creationId xmlns:a16="http://schemas.microsoft.com/office/drawing/2014/main" id="{036F360D-809A-C624-456C-E8F201E78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4" name="Symbol zastępczy numeru slajdu 5">
            <a:extLst>
              <a:ext uri="{FF2B5EF4-FFF2-40B4-BE49-F238E27FC236}">
                <a16:creationId xmlns:a16="http://schemas.microsoft.com/office/drawing/2014/main" id="{E8EE7E3E-232C-CA91-E2DF-E63764BB3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29D7EC-7D87-4535-B280-E0B5755B06F6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20043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3">
            <a:extLst>
              <a:ext uri="{FF2B5EF4-FFF2-40B4-BE49-F238E27FC236}">
                <a16:creationId xmlns:a16="http://schemas.microsoft.com/office/drawing/2014/main" id="{A873F9D0-F8BD-7A44-2FA9-D9D86B944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8ED679-1F43-46E7-9377-9E88BE5890D0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6" name="Symbol zastępczy stopki 4">
            <a:extLst>
              <a:ext uri="{FF2B5EF4-FFF2-40B4-BE49-F238E27FC236}">
                <a16:creationId xmlns:a16="http://schemas.microsoft.com/office/drawing/2014/main" id="{E425C257-2282-1035-BA5C-D79041DB0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5">
            <a:extLst>
              <a:ext uri="{FF2B5EF4-FFF2-40B4-BE49-F238E27FC236}">
                <a16:creationId xmlns:a16="http://schemas.microsoft.com/office/drawing/2014/main" id="{B2C2C5AC-8D17-CE6C-B08C-22EC4A7E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5367-BDEA-4F88-91F5-041899846A44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43140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l-PL" noProof="0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3">
            <a:extLst>
              <a:ext uri="{FF2B5EF4-FFF2-40B4-BE49-F238E27FC236}">
                <a16:creationId xmlns:a16="http://schemas.microsoft.com/office/drawing/2014/main" id="{72A9A194-9FA3-1991-DF42-E2DA46BD0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40BF10-2891-468F-B1B5-A427123328FC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6" name="Symbol zastępczy stopki 4">
            <a:extLst>
              <a:ext uri="{FF2B5EF4-FFF2-40B4-BE49-F238E27FC236}">
                <a16:creationId xmlns:a16="http://schemas.microsoft.com/office/drawing/2014/main" id="{8CE16BD3-C289-1BC4-859E-DBCB16E16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7" name="Symbol zastępczy numeru slajdu 5">
            <a:extLst>
              <a:ext uri="{FF2B5EF4-FFF2-40B4-BE49-F238E27FC236}">
                <a16:creationId xmlns:a16="http://schemas.microsoft.com/office/drawing/2014/main" id="{036C5237-E395-E8C0-11D4-FDA9B2AC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89E9A1-6C67-41D3-AE01-52BCB1E8492F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45821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B5DF9ED2-3245-1CAA-DD22-64543A1F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935A6E-6421-444C-9EBC-71AC0581D7FD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1C21258-AB21-3C87-3767-64609F977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669A646-3E2E-32C9-0DF0-B99B3910C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FB93E0-D4FB-48F6-BEFA-053E86C20FDA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63001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B397545-F472-8663-272A-EDA360D5D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BF3BF0-6A39-42B3-B29E-57557B5739DC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2A81E47-A9F6-3DAF-E8EE-CC6CFE1D1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C332314-7033-25F3-7622-A4665DA4C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AA5E54-8F02-43B1-8BB5-2BC1515494B1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11943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ytuł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BCC49F1-28C6-2694-BFBF-EEF1111A11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B2991F-AB0E-4E9F-94A4-54699674A608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98D7DCC-92E6-2B81-176C-39412E3BB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B3B06EE-E07F-4D4E-FA8A-21606872C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2B1103-9763-49B6-A9E2-BAA486BBFE53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067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Symbol zastępczy tytułu 1">
            <a:extLst>
              <a:ext uri="{FF2B5EF4-FFF2-40B4-BE49-F238E27FC236}">
                <a16:creationId xmlns:a16="http://schemas.microsoft.com/office/drawing/2014/main" id="{6D82C7B2-40E4-D25B-91F4-C3A554492B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</a:t>
            </a:r>
          </a:p>
        </p:txBody>
      </p:sp>
      <p:sp>
        <p:nvSpPr>
          <p:cNvPr id="1027" name="Symbol zastępczy tekstu 2">
            <a:extLst>
              <a:ext uri="{FF2B5EF4-FFF2-40B4-BE49-F238E27FC236}">
                <a16:creationId xmlns:a16="http://schemas.microsoft.com/office/drawing/2014/main" id="{BA13081C-B828-1FF0-BCDB-92018B29EB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l-PL" altLang="pl-PL"/>
              <a:t>Kliknij, aby edytować style wzorca tekstu</a:t>
            </a:r>
          </a:p>
          <a:p>
            <a:pPr lvl="1"/>
            <a:r>
              <a:rPr lang="pl-PL" altLang="pl-PL"/>
              <a:t>Drugi poziom</a:t>
            </a:r>
          </a:p>
          <a:p>
            <a:pPr lvl="2"/>
            <a:r>
              <a:rPr lang="pl-PL" altLang="pl-PL"/>
              <a:t>Trzeci poziom</a:t>
            </a:r>
          </a:p>
          <a:p>
            <a:pPr lvl="3"/>
            <a:r>
              <a:rPr lang="pl-PL" altLang="pl-PL"/>
              <a:t>Czwarty poziom</a:t>
            </a:r>
          </a:p>
          <a:p>
            <a:pPr lvl="4"/>
            <a:r>
              <a:rPr lang="pl-PL" alt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44A6D0C-3CE4-9D2B-B62D-642F8A9F99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2A23263-5083-4AED-B1E7-23ED33921D76}" type="datetimeFigureOut">
              <a:rPr lang="pl-PL"/>
              <a:pPr>
                <a:defRPr/>
              </a:pPr>
              <a:t>26.01.2026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13B0C1E-57C1-20CC-C122-D96283716F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CF97C7E-3E3A-8B0C-7457-6B8C3351DB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82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9EFC9EF6-FBEC-4382-AA9E-FC243C49B3A1}" type="slidenum">
              <a:rPr lang="pl-PL"/>
              <a:pPr>
                <a:defRPr/>
              </a:pPr>
              <a:t>‹#›</a:t>
            </a:fld>
            <a:endParaRPr lang="pl-P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ptos Display" panose="020B000402020202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9856A5D0-6B45-B25C-7AE3-D4B750E6B0C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0EB57361-D5F7-3E6B-35E6-B674D52A77A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11113" y="0"/>
            <a:ext cx="12225338" cy="6867525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94A72E-2E95-2729-E902-A0435B0CB53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 descr="&quot;&quot;">
            <a:extLst>
              <a:ext uri="{FF2B5EF4-FFF2-40B4-BE49-F238E27FC236}">
                <a16:creationId xmlns:a16="http://schemas.microsoft.com/office/drawing/2014/main" id="{B227DCF8-1935-1B82-6403-5E079584FF8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>
            <a:off x="-15875" y="0"/>
            <a:ext cx="3624263" cy="686752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62F083-752F-5465-7D6A-BE01858AD6D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5B75294-889D-98AA-B753-6DB6B354F38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" name="Oval 19" descr="&quot;&quot;">
            <a:extLst>
              <a:ext uri="{FF2B5EF4-FFF2-40B4-BE49-F238E27FC236}">
                <a16:creationId xmlns:a16="http://schemas.microsoft.com/office/drawing/2014/main" id="{E2AEF63A-4ADD-4F55-93D6-DDC102E57CF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993193">
            <a:off x="1186657" y="1089819"/>
            <a:ext cx="4967287" cy="4987925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63" name="Tytuł 1">
            <a:extLst>
              <a:ext uri="{FF2B5EF4-FFF2-40B4-BE49-F238E27FC236}">
                <a16:creationId xmlns:a16="http://schemas.microsoft.com/office/drawing/2014/main" id="{8A7B95E2-AAFF-AA3D-CB30-5C299B7D24F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162425" y="819150"/>
            <a:ext cx="6715125" cy="3178175"/>
          </a:xfrm>
        </p:spPr>
        <p:txBody>
          <a:bodyPr/>
          <a:lstStyle/>
          <a:p>
            <a:pPr algn="l"/>
            <a:r>
              <a:rPr lang="pl-PL" altLang="pl-PL" sz="4800">
                <a:solidFill>
                  <a:srgbClr val="FFFFFF"/>
                </a:solidFill>
              </a:rPr>
              <a:t>Hiperautomatyzacja i AI </a:t>
            </a:r>
            <a:br>
              <a:rPr lang="pl-PL" altLang="pl-PL" sz="4800">
                <a:solidFill>
                  <a:srgbClr val="FFFFFF"/>
                </a:solidFill>
              </a:rPr>
            </a:br>
            <a:r>
              <a:rPr lang="pl-PL" altLang="pl-PL" sz="4800">
                <a:solidFill>
                  <a:srgbClr val="FFFFFF"/>
                </a:solidFill>
              </a:rPr>
              <a:t>w systemach ERP</a:t>
            </a:r>
          </a:p>
        </p:txBody>
      </p:sp>
      <p:sp>
        <p:nvSpPr>
          <p:cNvPr id="22" name="Rectangle 21" descr="&quot;&quot;">
            <a:extLst>
              <a:ext uri="{FF2B5EF4-FFF2-40B4-BE49-F238E27FC236}">
                <a16:creationId xmlns:a16="http://schemas.microsoft.com/office/drawing/2014/main" id="{403513F7-6CE5-F2FA-24BE-F18B23C232D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flipH="1">
            <a:off x="0" y="4489450"/>
            <a:ext cx="12217400" cy="2378075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065" name="Podtytuł 2">
            <a:extLst>
              <a:ext uri="{FF2B5EF4-FFF2-40B4-BE49-F238E27FC236}">
                <a16:creationId xmlns:a16="http://schemas.microsoft.com/office/drawing/2014/main" id="{592EFD49-E4A3-1803-1A41-03E07AA518F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284663" y="4960938"/>
            <a:ext cx="7056437" cy="1077912"/>
          </a:xfrm>
        </p:spPr>
        <p:txBody>
          <a:bodyPr/>
          <a:lstStyle/>
          <a:p>
            <a:pPr algn="l"/>
            <a:r>
              <a:rPr lang="pl-PL" altLang="pl-PL" sz="2000">
                <a:solidFill>
                  <a:srgbClr val="FFFFFF"/>
                </a:solidFill>
              </a:rPr>
              <a:t>Kompleksowa analiza transformacji cyfrowej przedsiębiorstw</a:t>
            </a:r>
          </a:p>
          <a:p>
            <a:pPr algn="l"/>
            <a:r>
              <a:rPr lang="pl-PL" altLang="pl-PL" sz="2000">
                <a:solidFill>
                  <a:srgbClr val="FFFFFF"/>
                </a:solidFill>
              </a:rPr>
              <a:t>Autor: Piotr Kryziński</a:t>
            </a:r>
            <a:br>
              <a:rPr lang="pl-PL" altLang="pl-PL" sz="2000">
                <a:solidFill>
                  <a:srgbClr val="FFFFFF"/>
                </a:solidFill>
              </a:rPr>
            </a:br>
            <a:r>
              <a:rPr lang="pl-PL" altLang="pl-PL" sz="2000">
                <a:solidFill>
                  <a:srgbClr val="FFFFFF"/>
                </a:solidFill>
              </a:rPr>
              <a:t>Przedmiot: Podstawy Systemów Informatycznych Zarządzania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C0BFD328-937D-20BE-C8B1-277E14688FD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7526D42A-15FF-5086-5B7E-05AA2DACED4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6936F458-C209-C2D2-214D-197B743B2F2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EE36A79-BF9B-5363-D0FF-4E923E70BC7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63C538A-D877-B194-BA63-13FA5745719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DC096F-93C3-0B21-3C2D-6681D8E443E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086" name="Tytuł 1">
            <a:extLst>
              <a:ext uri="{FF2B5EF4-FFF2-40B4-BE49-F238E27FC236}">
                <a16:creationId xmlns:a16="http://schemas.microsoft.com/office/drawing/2014/main" id="{A702CB2E-7CF6-787E-9951-B797F8E840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Agenda prezentacji (Część 1)</a:t>
            </a:r>
          </a:p>
        </p:txBody>
      </p:sp>
      <p:sp>
        <p:nvSpPr>
          <p:cNvPr id="3087" name="Symbol zastępczy tekstu 2">
            <a:extLst>
              <a:ext uri="{FF2B5EF4-FFF2-40B4-BE49-F238E27FC236}">
                <a16:creationId xmlns:a16="http://schemas.microsoft.com/office/drawing/2014/main" id="{1A1DADCC-E1A5-C22F-0102-7016E4CE53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1. Ewolucja systemów ERP - kontekst historyczny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2. Definicja Hiperautomatyzacji i różnice względem automatyzacji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3. Koncepcja iERP (Intelligent ERP)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4. Architektura technologiczna: RPA, AI, ML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5. Nowość: Generatywna Sztuczna Inteligencja (GenAI) w ERP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6. Rola chmury obliczeniowej (SaaS) w procesie zmian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7. Process Mining - fundament wiedzy </a:t>
            </a:r>
            <a:br>
              <a:rPr lang="pl-PL" altLang="pl-PL" sz="2000"/>
            </a:br>
            <a:r>
              <a:rPr lang="en-US" altLang="pl-PL" sz="2000"/>
              <a:t>o procesach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8. Digital Twin of an Organization (DTO)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6EC1F70D-351E-7C27-09EA-A29A71DC376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B61AE9C2-826A-D788-FDFE-13F9C4A2D75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FFE40F39-80D4-08D8-0EB3-3F0189FD064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1B668E-53C4-F0AA-D0BC-6223DC0936A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379E87-CD7A-354D-0440-FF1D29CB104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40ADC46-D33E-E77E-5FA0-E73E7DFCDDA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4110" name="Tytuł 1">
            <a:extLst>
              <a:ext uri="{FF2B5EF4-FFF2-40B4-BE49-F238E27FC236}">
                <a16:creationId xmlns:a16="http://schemas.microsoft.com/office/drawing/2014/main" id="{16A309D3-A255-9F65-53C4-3EACAD6FFBC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Agenda prezentacji (Część 2)</a:t>
            </a:r>
          </a:p>
        </p:txBody>
      </p:sp>
      <p:sp>
        <p:nvSpPr>
          <p:cNvPr id="4111" name="Symbol zastępczy tekstu 2">
            <a:extLst>
              <a:ext uri="{FF2B5EF4-FFF2-40B4-BE49-F238E27FC236}">
                <a16:creationId xmlns:a16="http://schemas.microsoft.com/office/drawing/2014/main" id="{52682EC4-A1CE-FAF9-BB7E-B9A266325F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9-13. Zastosowania sektorowe (Finanse, Logistyka, HR, Produkcja, Sprzedaż)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14. Raportowanie ESG i zrównoważony rozwój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15-18. Strategia wdrożenia i zarządzanie zmianą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19-22. Analiza korzyści, kosztów i ROI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23-26. Wyzwania: Bezpieczeństwo, Etyka, Jakość danych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27-30. Podsumowanie, przyszłość </a:t>
            </a:r>
            <a:br>
              <a:rPr lang="pl-PL" altLang="pl-PL" sz="2000"/>
            </a:br>
            <a:r>
              <a:rPr lang="en-US" altLang="pl-PL" sz="2000"/>
              <a:t>i źródła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771DA0D2-0C70-2E5E-5B5D-A88CB0104D7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676BBF4E-D921-6F59-842C-29E8F7669DA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3000E1DB-25F9-56AA-DD2A-09E64518470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AD9AB6-AF74-D74E-31BC-F39D66F1223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BC8C30-06B8-8D8B-5FE9-BC387734AE2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75B79FBB-75D0-9C35-129B-EA35A4ED3A0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5134" name="Tytuł 1">
            <a:extLst>
              <a:ext uri="{FF2B5EF4-FFF2-40B4-BE49-F238E27FC236}">
                <a16:creationId xmlns:a16="http://schemas.microsoft.com/office/drawing/2014/main" id="{34C08A82-C392-8577-BF92-89FB81DB50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Ewolucja: Od System of Record do System of Intelligence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7BE744B-F60F-7872-2E6C-118F8D3EC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 fontScale="85000" lnSpcReduction="10000"/>
          </a:bodyPr>
          <a:lstStyle/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TRADYCYJNE ERP (Lata 90-00):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Monolityczne</a:t>
            </a:r>
            <a:r>
              <a:rPr lang="en-US" sz="2000" dirty="0"/>
              <a:t> </a:t>
            </a:r>
            <a:r>
              <a:rPr lang="en-US" sz="2000" dirty="0" err="1"/>
              <a:t>bazy</a:t>
            </a:r>
            <a:r>
              <a:rPr lang="en-US" sz="2000" dirty="0"/>
              <a:t> </a:t>
            </a:r>
            <a:r>
              <a:rPr lang="en-US" sz="2000" dirty="0" err="1"/>
              <a:t>danych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Rejestracja</a:t>
            </a:r>
            <a:r>
              <a:rPr lang="en-US" sz="2000" dirty="0"/>
              <a:t> </a:t>
            </a:r>
            <a:r>
              <a:rPr lang="en-US" sz="2000" dirty="0" err="1"/>
              <a:t>zdarzeń</a:t>
            </a:r>
            <a:r>
              <a:rPr lang="en-US" sz="2000" dirty="0"/>
              <a:t> PO </a:t>
            </a:r>
            <a:r>
              <a:rPr lang="en-US" sz="2000" dirty="0" err="1"/>
              <a:t>fakcie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Interfejsy</a:t>
            </a:r>
            <a:r>
              <a:rPr lang="en-US" sz="2000" dirty="0"/>
              <a:t> </a:t>
            </a:r>
            <a:r>
              <a:rPr lang="en-US" sz="2000" dirty="0" err="1"/>
              <a:t>oparte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formularzach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endParaRPr lang="en-US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NOWOCZESNE </a:t>
            </a:r>
            <a:r>
              <a:rPr lang="en-US" sz="2000" dirty="0" err="1"/>
              <a:t>iERP</a:t>
            </a:r>
            <a:r>
              <a:rPr lang="en-US" sz="2000" dirty="0"/>
              <a:t> (2020+):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Mikroserwisy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API.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Predykcja</a:t>
            </a:r>
            <a:r>
              <a:rPr lang="en-US" sz="2000" dirty="0"/>
              <a:t> </a:t>
            </a:r>
            <a:r>
              <a:rPr lang="en-US" sz="2000" dirty="0" err="1"/>
              <a:t>zdarze</a:t>
            </a:r>
            <a:r>
              <a:rPr lang="pl-PL" sz="2000" dirty="0"/>
              <a:t>ń</a:t>
            </a:r>
            <a:r>
              <a:rPr lang="en-US" sz="2000" dirty="0"/>
              <a:t> PRZED </a:t>
            </a:r>
            <a:r>
              <a:rPr lang="en-US" sz="2000" dirty="0" err="1"/>
              <a:t>faktem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Interfejsy</a:t>
            </a:r>
            <a:r>
              <a:rPr lang="en-US" sz="2000" dirty="0"/>
              <a:t> </a:t>
            </a:r>
            <a:r>
              <a:rPr lang="en-US" sz="2000" dirty="0" err="1"/>
              <a:t>konwersacyjne</a:t>
            </a:r>
            <a:r>
              <a:rPr lang="en-US" sz="2000" dirty="0"/>
              <a:t> (NLP) </a:t>
            </a:r>
            <a:br>
              <a:rPr lang="pl-PL" sz="2000" dirty="0"/>
            </a:b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autonomiczne</a:t>
            </a:r>
            <a:r>
              <a:rPr lang="en-US" sz="2000" dirty="0"/>
              <a:t>.</a:t>
            </a: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pl-PL" sz="2000" dirty="0"/>
              <a:t>Tradycyjne systemy ERP pełniły głównie funkcję rejestracyjną, zapisując zdarzenia gospodarcze po ich wystąpieniu. Ich architektura była monolityczna, a analiza danych miała charakter retrospektywny. Nowoczesne systemy </a:t>
            </a:r>
            <a:r>
              <a:rPr lang="pl-PL" sz="2000" dirty="0" err="1"/>
              <a:t>iERP</a:t>
            </a:r>
            <a:r>
              <a:rPr lang="pl-PL" sz="2000" dirty="0"/>
              <a:t> wykorzystują </a:t>
            </a:r>
            <a:r>
              <a:rPr lang="pl-PL" sz="2000" dirty="0" err="1"/>
              <a:t>mikroserwisy</a:t>
            </a:r>
            <a:r>
              <a:rPr lang="pl-PL" sz="2000" dirty="0"/>
              <a:t>, API oraz algorytmy sztucznej inteligencji, umożliwiając predykcję zdarzeń oraz aktywne wspieranie decyzji biznesowych.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6D03DE52-F59A-27E7-B816-E4C992BD3CA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B79B1D24-9DB1-BA90-5A32-4D5E9CAB5A8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7B7297F4-C1A6-3988-045B-545596D3160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FE21AC-2C26-B957-7C2A-A6D2D729DF3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4F1E86C-493C-DD46-163C-A9E52325257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D93AFD1-F79E-A764-E25A-EF9AEB2BD17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6158" name="Tytuł 1">
            <a:extLst>
              <a:ext uri="{FF2B5EF4-FFF2-40B4-BE49-F238E27FC236}">
                <a16:creationId xmlns:a16="http://schemas.microsoft.com/office/drawing/2014/main" id="{7835F3F1-1458-19A4-E74E-23DE86FC58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3400" b="1">
                <a:solidFill>
                  <a:srgbClr val="FFFFFF"/>
                </a:solidFill>
              </a:rPr>
              <a:t>Czym jest Hiperautomatyzacja?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C665E1D7-5211-5B51-2978-9BB02CB06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 fontScale="92500" lnSpcReduction="20000"/>
          </a:bodyPr>
          <a:lstStyle/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DEFINICJA GARTNERA: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Podejście</a:t>
            </a:r>
            <a:r>
              <a:rPr lang="en-US" sz="2000" dirty="0"/>
              <a:t> </a:t>
            </a:r>
            <a:r>
              <a:rPr lang="en-US" sz="2000" dirty="0" err="1"/>
              <a:t>biznesowe</a:t>
            </a:r>
            <a:r>
              <a:rPr lang="en-US" sz="2000" dirty="0"/>
              <a:t> </a:t>
            </a:r>
            <a:r>
              <a:rPr lang="en-US" sz="2000" dirty="0" err="1"/>
              <a:t>polegające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szybkiej</a:t>
            </a:r>
            <a:r>
              <a:rPr lang="en-US" sz="2000" dirty="0"/>
              <a:t> </a:t>
            </a:r>
            <a:r>
              <a:rPr lang="en-US" sz="2000" dirty="0" err="1"/>
              <a:t>identyfikacji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automatyzacji</a:t>
            </a:r>
            <a:r>
              <a:rPr lang="en-US" sz="2000" dirty="0"/>
              <a:t> jak </a:t>
            </a:r>
            <a:r>
              <a:rPr lang="en-US" sz="2000" dirty="0" err="1"/>
              <a:t>największej</a:t>
            </a:r>
            <a:r>
              <a:rPr lang="en-US" sz="2000" dirty="0"/>
              <a:t> </a:t>
            </a:r>
            <a:r>
              <a:rPr lang="en-US" sz="2000" dirty="0" err="1"/>
              <a:t>liczby</a:t>
            </a:r>
            <a:r>
              <a:rPr lang="en-US" sz="2000" dirty="0"/>
              <a:t> </a:t>
            </a:r>
            <a:r>
              <a:rPr lang="en-US" sz="2000" dirty="0" err="1"/>
              <a:t>procesów</a:t>
            </a:r>
            <a:r>
              <a:rPr lang="en-US" sz="2000" dirty="0"/>
              <a:t> IT </a:t>
            </a:r>
            <a:br>
              <a:rPr lang="en-US" sz="2000" dirty="0"/>
            </a:b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biznesowych</a:t>
            </a:r>
            <a:r>
              <a:rPr lang="en-US" sz="2000" dirty="0"/>
              <a:t>.</a:t>
            </a:r>
            <a:br>
              <a:rPr lang="pl-PL" sz="2000" dirty="0"/>
            </a:br>
            <a:endParaRPr lang="en-US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KLUCZOWA RÓŻNICA: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Automatyzacja</a:t>
            </a:r>
            <a:r>
              <a:rPr lang="en-US" sz="2000" dirty="0"/>
              <a:t> = </a:t>
            </a:r>
            <a:r>
              <a:rPr lang="en-US" sz="2000" dirty="0" err="1"/>
              <a:t>Ręce</a:t>
            </a:r>
            <a:r>
              <a:rPr lang="en-US" sz="2000" dirty="0"/>
              <a:t> (</a:t>
            </a:r>
            <a:r>
              <a:rPr lang="en-US" sz="2000" dirty="0" err="1"/>
              <a:t>wykonanie</a:t>
            </a:r>
            <a:r>
              <a:rPr lang="en-US" sz="2000" dirty="0"/>
              <a:t> </a:t>
            </a:r>
            <a:r>
              <a:rPr lang="en-US" sz="2000" dirty="0" err="1"/>
              <a:t>zadania</a:t>
            </a:r>
            <a:r>
              <a:rPr lang="en-US" sz="2000" dirty="0"/>
              <a:t>).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Hiperautomatyzacja</a:t>
            </a:r>
            <a:r>
              <a:rPr lang="en-US" sz="2000" dirty="0"/>
              <a:t> = </a:t>
            </a:r>
            <a:r>
              <a:rPr lang="en-US" sz="2000" dirty="0" err="1"/>
              <a:t>Ręce</a:t>
            </a:r>
            <a:r>
              <a:rPr lang="en-US" sz="2000" dirty="0"/>
              <a:t> + </a:t>
            </a:r>
            <a:r>
              <a:rPr lang="en-US" sz="2000" dirty="0" err="1"/>
              <a:t>Oczy</a:t>
            </a:r>
            <a:r>
              <a:rPr lang="en-US" sz="2000" dirty="0"/>
              <a:t> (OCR/Vision) + </a:t>
            </a:r>
            <a:r>
              <a:rPr lang="en-US" sz="2000" dirty="0" err="1"/>
              <a:t>Mózg</a:t>
            </a:r>
            <a:r>
              <a:rPr lang="en-US" sz="2000" dirty="0"/>
              <a:t> (AI/</a:t>
            </a:r>
            <a:r>
              <a:rPr lang="en-US" sz="2000" dirty="0" err="1"/>
              <a:t>Decyzje</a:t>
            </a:r>
            <a:r>
              <a:rPr lang="en-US" sz="2000" dirty="0"/>
              <a:t>).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Cel: </a:t>
            </a:r>
            <a:r>
              <a:rPr lang="en-US" sz="2000" dirty="0" err="1"/>
              <a:t>Uwolnienie</a:t>
            </a:r>
            <a:r>
              <a:rPr lang="en-US" sz="2000" dirty="0"/>
              <a:t> </a:t>
            </a:r>
            <a:r>
              <a:rPr lang="en-US" sz="2000" dirty="0" err="1"/>
              <a:t>ludzi</a:t>
            </a:r>
            <a:r>
              <a:rPr lang="en-US" sz="2000" dirty="0"/>
              <a:t> od </a:t>
            </a:r>
            <a:r>
              <a:rPr lang="en-US" sz="2000" dirty="0" err="1"/>
              <a:t>bycia</a:t>
            </a:r>
            <a:r>
              <a:rPr lang="en-US" sz="2000" dirty="0"/>
              <a:t> „</a:t>
            </a:r>
            <a:r>
              <a:rPr lang="en-US" sz="2000" dirty="0" err="1"/>
              <a:t>łącznikiem</a:t>
            </a:r>
            <a:r>
              <a:rPr lang="en-US" sz="2000" dirty="0"/>
              <a:t> </a:t>
            </a:r>
            <a:r>
              <a:rPr lang="en-US" sz="2000" dirty="0" err="1"/>
              <a:t>systemów</a:t>
            </a:r>
            <a:r>
              <a:rPr lang="en-US" sz="2000" dirty="0"/>
              <a:t>”.</a:t>
            </a:r>
            <a:endParaRPr lang="pl-PL" sz="2000" dirty="0"/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pl-PL" sz="2000" dirty="0"/>
              <a:t>Przejście od klasycznych systemów ERP do koncepcji </a:t>
            </a:r>
            <a:r>
              <a:rPr lang="pl-PL" sz="2000" dirty="0" err="1"/>
              <a:t>iERP</a:t>
            </a:r>
            <a:r>
              <a:rPr lang="pl-PL" sz="2000" dirty="0"/>
              <a:t> wynika z potrzeby szybszego podejmowania decyzji oraz obsługi coraz bardziej złożonych procesów biznesowych. </a:t>
            </a:r>
            <a:r>
              <a:rPr lang="pl-PL" sz="2000" dirty="0" err="1"/>
              <a:t>Hiperautomatyzacja</a:t>
            </a:r>
            <a:r>
              <a:rPr lang="pl-PL" sz="2000" dirty="0"/>
              <a:t> łączy automatyzację z analityką i sztuczną inteligencją, dzięki czemu system nie tylko „wykonuje”, ale też „rozumie” i wspiera decyzje.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073C0ABA-E488-8F69-3EC0-1E2C1EAFCF1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71" name="Tytuł 1">
            <a:extLst>
              <a:ext uri="{FF2B5EF4-FFF2-40B4-BE49-F238E27FC236}">
                <a16:creationId xmlns:a16="http://schemas.microsoft.com/office/drawing/2014/main" id="{61E680BF-F95E-C232-5A7C-20ECFED7F5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44588" y="0"/>
            <a:ext cx="5322888" cy="1643063"/>
          </a:xfrm>
        </p:spPr>
        <p:txBody>
          <a:bodyPr anchor="b"/>
          <a:lstStyle/>
          <a:p>
            <a:r>
              <a:rPr lang="en-US" altLang="pl-PL" sz="4000" b="1" dirty="0" err="1"/>
              <a:t>Technologiczny</a:t>
            </a:r>
            <a:r>
              <a:rPr lang="en-US" altLang="pl-PL" sz="4000" b="1" dirty="0"/>
              <a:t> </a:t>
            </a:r>
            <a:r>
              <a:rPr lang="en-US" altLang="pl-PL" sz="4000" b="1" dirty="0" err="1"/>
              <a:t>ekosystem</a:t>
            </a:r>
            <a:r>
              <a:rPr lang="en-US" altLang="pl-PL" sz="4000" b="1" dirty="0"/>
              <a:t> </a:t>
            </a:r>
            <a:r>
              <a:rPr lang="en-US" altLang="pl-PL" sz="4000" b="1" dirty="0" err="1"/>
              <a:t>iERP</a:t>
            </a:r>
            <a:endParaRPr lang="en-US" altLang="pl-PL" sz="4000" b="1" dirty="0"/>
          </a:p>
        </p:txBody>
      </p:sp>
      <p:sp>
        <p:nvSpPr>
          <p:cNvPr id="7172" name="Symbol zastępczy tekstu 2">
            <a:extLst>
              <a:ext uri="{FF2B5EF4-FFF2-40B4-BE49-F238E27FC236}">
                <a16:creationId xmlns:a16="http://schemas.microsoft.com/office/drawing/2014/main" id="{44BB021B-1368-0488-4CF6-3EC5A4C347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087600" y="1643063"/>
            <a:ext cx="5746337" cy="4451345"/>
          </a:xfrm>
        </p:spPr>
        <p:txBody>
          <a:bodyPr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1800" dirty="0"/>
              <a:t>1. RPA (Robotic Process Automation): </a:t>
            </a:r>
            <a:br>
              <a:rPr lang="en-US" altLang="pl-PL" sz="1800" dirty="0"/>
            </a:br>
            <a:r>
              <a:rPr lang="en-US" altLang="pl-PL" sz="1800" dirty="0"/>
              <a:t>Wirtualni </a:t>
            </a:r>
            <a:r>
              <a:rPr lang="en-US" altLang="pl-PL" sz="1800" dirty="0" err="1"/>
              <a:t>pracownicy</a:t>
            </a:r>
            <a:r>
              <a:rPr lang="en-US" altLang="pl-PL" sz="1800" dirty="0"/>
              <a:t> do </a:t>
            </a:r>
            <a:r>
              <a:rPr lang="en-US" altLang="pl-PL" sz="1800" dirty="0" err="1"/>
              <a:t>zadań</a:t>
            </a:r>
            <a:r>
              <a:rPr lang="en-US" altLang="pl-PL" sz="1800" dirty="0"/>
              <a:t> </a:t>
            </a:r>
            <a:r>
              <a:rPr lang="en-US" altLang="pl-PL" sz="1800" dirty="0" err="1"/>
              <a:t>powtarzalnych</a:t>
            </a:r>
            <a:r>
              <a:rPr lang="en-US" altLang="pl-PL" sz="18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1800" dirty="0"/>
              <a:t>2. AI &amp; Machine Learning: </a:t>
            </a:r>
            <a:br>
              <a:rPr lang="en-US" altLang="pl-PL" sz="1800" dirty="0"/>
            </a:br>
            <a:r>
              <a:rPr lang="en-US" altLang="pl-PL" sz="1800" dirty="0" err="1"/>
              <a:t>Algorytmy</a:t>
            </a:r>
            <a:r>
              <a:rPr lang="en-US" altLang="pl-PL" sz="1800" dirty="0"/>
              <a:t> </a:t>
            </a:r>
            <a:r>
              <a:rPr lang="en-US" altLang="pl-PL" sz="1800" dirty="0" err="1"/>
              <a:t>uczące</a:t>
            </a:r>
            <a:r>
              <a:rPr lang="en-US" altLang="pl-PL" sz="1800" dirty="0"/>
              <a:t> </a:t>
            </a:r>
            <a:r>
              <a:rPr lang="en-US" altLang="pl-PL" sz="1800" dirty="0" err="1"/>
              <a:t>się</a:t>
            </a:r>
            <a:r>
              <a:rPr lang="en-US" altLang="pl-PL" sz="1800" dirty="0"/>
              <a:t> </a:t>
            </a:r>
            <a:r>
              <a:rPr lang="en-US" altLang="pl-PL" sz="1800" dirty="0" err="1"/>
              <a:t>wzorców</a:t>
            </a:r>
            <a:r>
              <a:rPr lang="en-US" altLang="pl-PL" sz="1800" dirty="0"/>
              <a:t> </a:t>
            </a:r>
            <a:r>
              <a:rPr lang="en-US" altLang="pl-PL" sz="1800" dirty="0" err="1"/>
              <a:t>i</a:t>
            </a:r>
            <a:r>
              <a:rPr lang="en-US" altLang="pl-PL" sz="1800" dirty="0"/>
              <a:t> </a:t>
            </a:r>
            <a:r>
              <a:rPr lang="en-US" altLang="pl-PL" sz="1800" dirty="0" err="1"/>
              <a:t>podejmujące</a:t>
            </a:r>
            <a:r>
              <a:rPr lang="en-US" altLang="pl-PL" sz="1800" dirty="0"/>
              <a:t> </a:t>
            </a:r>
            <a:r>
              <a:rPr lang="en-US" altLang="pl-PL" sz="1800" dirty="0" err="1"/>
              <a:t>decyzje</a:t>
            </a:r>
            <a:r>
              <a:rPr lang="en-US" altLang="pl-PL" sz="18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1800" dirty="0"/>
              <a:t>3. NLP (Natural Language Processing): </a:t>
            </a:r>
            <a:br>
              <a:rPr lang="en-US" altLang="pl-PL" sz="1800" dirty="0"/>
            </a:br>
            <a:r>
              <a:rPr lang="en-US" altLang="pl-PL" sz="1800" dirty="0" err="1"/>
              <a:t>Rozumienie</a:t>
            </a:r>
            <a:r>
              <a:rPr lang="en-US" altLang="pl-PL" sz="1800" dirty="0"/>
              <a:t> </a:t>
            </a:r>
            <a:r>
              <a:rPr lang="en-US" altLang="pl-PL" sz="1800" dirty="0" err="1"/>
              <a:t>mowy</a:t>
            </a:r>
            <a:r>
              <a:rPr lang="en-US" altLang="pl-PL" sz="1800" dirty="0"/>
              <a:t> </a:t>
            </a:r>
            <a:r>
              <a:rPr lang="en-US" altLang="pl-PL" sz="1800" dirty="0" err="1"/>
              <a:t>i</a:t>
            </a:r>
            <a:r>
              <a:rPr lang="en-US" altLang="pl-PL" sz="1800" dirty="0"/>
              <a:t> </a:t>
            </a:r>
            <a:r>
              <a:rPr lang="en-US" altLang="pl-PL" sz="1800" dirty="0" err="1"/>
              <a:t>tekstu</a:t>
            </a:r>
            <a:r>
              <a:rPr lang="en-US" altLang="pl-PL" sz="18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1800" dirty="0"/>
              <a:t>4. OCR / Computer Vision: </a:t>
            </a:r>
            <a:br>
              <a:rPr lang="en-US" altLang="pl-PL" sz="1800" dirty="0"/>
            </a:br>
            <a:r>
              <a:rPr lang="en-US" altLang="pl-PL" sz="1800" dirty="0" err="1"/>
              <a:t>Cyfryzacja</a:t>
            </a:r>
            <a:r>
              <a:rPr lang="en-US" altLang="pl-PL" sz="1800" dirty="0"/>
              <a:t> </a:t>
            </a:r>
            <a:r>
              <a:rPr lang="en-US" altLang="pl-PL" sz="1800" dirty="0" err="1"/>
              <a:t>dokumentów</a:t>
            </a:r>
            <a:r>
              <a:rPr lang="en-US" altLang="pl-PL" sz="1800" dirty="0"/>
              <a:t> </a:t>
            </a:r>
            <a:r>
              <a:rPr lang="en-US" altLang="pl-PL" sz="1800" dirty="0" err="1"/>
              <a:t>papierowych</a:t>
            </a:r>
            <a:r>
              <a:rPr lang="en-US" altLang="pl-PL" sz="1800" dirty="0"/>
              <a:t> </a:t>
            </a:r>
            <a:r>
              <a:rPr lang="en-US" altLang="pl-PL" sz="1800" dirty="0" err="1"/>
              <a:t>i</a:t>
            </a:r>
            <a:r>
              <a:rPr lang="en-US" altLang="pl-PL" sz="1800" dirty="0"/>
              <a:t> </a:t>
            </a:r>
            <a:r>
              <a:rPr lang="en-US" altLang="pl-PL" sz="1800" dirty="0" err="1"/>
              <a:t>obrazu</a:t>
            </a:r>
            <a:r>
              <a:rPr lang="en-US" altLang="pl-PL" sz="18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1800" dirty="0"/>
              <a:t>5. </a:t>
            </a:r>
            <a:r>
              <a:rPr lang="en-US" altLang="pl-PL" sz="1800" dirty="0" err="1"/>
              <a:t>iBPMS</a:t>
            </a:r>
            <a:r>
              <a:rPr lang="en-US" altLang="pl-PL" sz="1800" dirty="0"/>
              <a:t>: </a:t>
            </a:r>
            <a:br>
              <a:rPr lang="en-US" altLang="pl-PL" sz="1800" dirty="0"/>
            </a:br>
            <a:r>
              <a:rPr lang="en-US" altLang="pl-PL" sz="1800" dirty="0" err="1"/>
              <a:t>Inteligentne</a:t>
            </a:r>
            <a:r>
              <a:rPr lang="en-US" altLang="pl-PL" sz="1800" dirty="0"/>
              <a:t> </a:t>
            </a:r>
            <a:r>
              <a:rPr lang="en-US" altLang="pl-PL" sz="1800" dirty="0" err="1"/>
              <a:t>systemy</a:t>
            </a:r>
            <a:r>
              <a:rPr lang="en-US" altLang="pl-PL" sz="1800" dirty="0"/>
              <a:t> </a:t>
            </a:r>
            <a:r>
              <a:rPr lang="en-US" altLang="pl-PL" sz="1800" dirty="0" err="1"/>
              <a:t>zarządzania</a:t>
            </a:r>
            <a:r>
              <a:rPr lang="en-US" altLang="pl-PL" sz="1800" dirty="0"/>
              <a:t> </a:t>
            </a:r>
            <a:r>
              <a:rPr lang="en-US" altLang="pl-PL" sz="1800" dirty="0" err="1"/>
              <a:t>procesami</a:t>
            </a:r>
            <a:r>
              <a:rPr lang="en-US" altLang="pl-PL" sz="1800" dirty="0"/>
              <a:t> </a:t>
            </a:r>
            <a:r>
              <a:rPr lang="en-US" altLang="pl-PL" sz="1800" dirty="0" err="1"/>
              <a:t>biznesowymi</a:t>
            </a:r>
            <a:r>
              <a:rPr lang="en-US" altLang="pl-PL" sz="1800" dirty="0"/>
              <a:t>.</a:t>
            </a:r>
            <a:endParaRPr lang="pl-PL" altLang="pl-PL" sz="18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1800" dirty="0"/>
              <a:t>Nowoczesne </a:t>
            </a:r>
            <a:r>
              <a:rPr lang="pl-PL" sz="1800" dirty="0" err="1"/>
              <a:t>iERP</a:t>
            </a:r>
            <a:r>
              <a:rPr lang="pl-PL" sz="1800" dirty="0"/>
              <a:t> działa jako ekosystem technologii: RPA automatyzuje czynności, AI/ML wspiera decyzje, a NLP i OCR umożliwiają pracę z językiem naturalnym i dokumentami. Ich integracja pozwala automatyzować całe procesy end-to-end, a nie pojedyncze zadania.</a:t>
            </a:r>
            <a:endParaRPr lang="en-US" altLang="pl-PL" sz="18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D20BCC-64DF-10CD-3D2A-7B0BA7135C8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83FAD88-F60D-3E21-CE63-A3226B931A8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 descr="&quot;&quot;">
            <a:extLst>
              <a:ext uri="{FF2B5EF4-FFF2-40B4-BE49-F238E27FC236}">
                <a16:creationId xmlns:a16="http://schemas.microsoft.com/office/drawing/2014/main" id="{7A8CB26A-FA5A-123C-F3A5-83504AB21B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238" y="0"/>
            <a:ext cx="4068762" cy="64008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" name="Rectangle 17" descr="&quot;&quot;">
            <a:extLst>
              <a:ext uri="{FF2B5EF4-FFF2-40B4-BE49-F238E27FC236}">
                <a16:creationId xmlns:a16="http://schemas.microsoft.com/office/drawing/2014/main" id="{C329ED98-C54A-BBDF-BB2F-54557F80D04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10800000" flipH="1">
            <a:off x="8123238" y="0"/>
            <a:ext cx="3611562" cy="6858000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pic>
        <p:nvPicPr>
          <p:cNvPr id="7181" name="Obraz 4" descr="Obraz zawierający tekst, zrzut ekranu, diagram, design&#10;&#10;Zawartość wygenerowana przez AI może być niepoprawna.">
            <a:extLst>
              <a:ext uri="{FF2B5EF4-FFF2-40B4-BE49-F238E27FC236}">
                <a16:creationId xmlns:a16="http://schemas.microsoft.com/office/drawing/2014/main" id="{EF5ACAED-4240-5D9B-5EA8-4440680DCA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75488" y="1358900"/>
            <a:ext cx="4170362" cy="417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5052AB20-A81D-14C1-3AD9-0C5643D639F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1C1BAC97-11AB-95F8-331E-219754E5E53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D13CDF76-60AF-CB7C-B0A7-4021A0E4AA7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38DF33-2177-5C51-D442-24D93821B5D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BFDAFC-DC19-BC94-3C52-CACA1B9D1F1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2163078-4118-7074-0346-7F2462E8225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8206" name="Tytuł 1">
            <a:extLst>
              <a:ext uri="{FF2B5EF4-FFF2-40B4-BE49-F238E27FC236}">
                <a16:creationId xmlns:a16="http://schemas.microsoft.com/office/drawing/2014/main" id="{28F18152-002A-3BF7-7670-DD854AEA63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Rewolucja: Generatywna AI (GenAI) w ERP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DA84EE2-F1A9-927D-0290-3ACD9098EE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/>
          </a:bodyPr>
          <a:lstStyle/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LLM (Large Language Models) </a:t>
            </a:r>
            <a:r>
              <a:rPr lang="en-US" sz="2000" dirty="0" err="1"/>
              <a:t>wchodzą</a:t>
            </a:r>
            <a:r>
              <a:rPr lang="en-US" sz="2000" dirty="0"/>
              <a:t> do </a:t>
            </a:r>
            <a:r>
              <a:rPr lang="en-US" sz="2000" dirty="0" err="1"/>
              <a:t>systemów</a:t>
            </a:r>
            <a:r>
              <a:rPr lang="en-US" sz="2000" dirty="0"/>
              <a:t> </a:t>
            </a:r>
            <a:r>
              <a:rPr lang="en-US" sz="2000" dirty="0" err="1"/>
              <a:t>klasy</a:t>
            </a:r>
            <a:r>
              <a:rPr lang="en-US" sz="2000" dirty="0"/>
              <a:t> Enterprise </a:t>
            </a:r>
            <a:br>
              <a:rPr lang="pl-PL" sz="2000" dirty="0"/>
            </a:br>
            <a:r>
              <a:rPr lang="en-US" sz="2000" dirty="0"/>
              <a:t>(np. Microsoft Copilot, SAP Joule).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en-US" sz="2000" dirty="0"/>
              <a:t>ZASTOSOWANIE: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Zamiast</a:t>
            </a:r>
            <a:r>
              <a:rPr lang="en-US" sz="2000" dirty="0"/>
              <a:t> </a:t>
            </a:r>
            <a:r>
              <a:rPr lang="en-US" sz="2000" dirty="0" err="1"/>
              <a:t>generować</a:t>
            </a:r>
            <a:r>
              <a:rPr lang="en-US" sz="2000" dirty="0"/>
              <a:t> </a:t>
            </a:r>
            <a:r>
              <a:rPr lang="en-US" sz="2000" dirty="0" err="1"/>
              <a:t>raport</a:t>
            </a:r>
            <a:r>
              <a:rPr lang="en-US" sz="2000" dirty="0"/>
              <a:t> SQL, </a:t>
            </a:r>
            <a:r>
              <a:rPr lang="en-US" sz="2000" dirty="0" err="1"/>
              <a:t>menedżer</a:t>
            </a:r>
            <a:r>
              <a:rPr lang="en-US" sz="2000" dirty="0"/>
              <a:t> </a:t>
            </a:r>
            <a:r>
              <a:rPr lang="en-US" sz="2000" dirty="0" err="1"/>
              <a:t>pisze</a:t>
            </a:r>
            <a:r>
              <a:rPr lang="pl-PL" sz="2000" dirty="0"/>
              <a:t> np.</a:t>
            </a:r>
            <a:r>
              <a:rPr lang="en-US" sz="2000" dirty="0"/>
              <a:t>: </a:t>
            </a:r>
            <a:r>
              <a:rPr lang="pl-PL" sz="2000" dirty="0"/>
              <a:t>„</a:t>
            </a:r>
            <a:r>
              <a:rPr lang="en-US" sz="2000" dirty="0" err="1"/>
              <a:t>Pokaż</a:t>
            </a:r>
            <a:r>
              <a:rPr lang="en-US" sz="2000" dirty="0"/>
              <a:t> mi 5 </a:t>
            </a:r>
            <a:r>
              <a:rPr lang="en-US" sz="2000" dirty="0" err="1"/>
              <a:t>produktów</a:t>
            </a:r>
            <a:r>
              <a:rPr lang="en-US" sz="2000" dirty="0"/>
              <a:t> o </a:t>
            </a:r>
            <a:r>
              <a:rPr lang="en-US" sz="2000" dirty="0" err="1"/>
              <a:t>najniższej</a:t>
            </a:r>
            <a:r>
              <a:rPr lang="en-US" sz="2000" dirty="0"/>
              <a:t> </a:t>
            </a:r>
            <a:r>
              <a:rPr lang="en-US" sz="2000" dirty="0" err="1"/>
              <a:t>marży</a:t>
            </a:r>
            <a:r>
              <a:rPr lang="en-US" sz="2000" dirty="0"/>
              <a:t> w Q3 </a:t>
            </a:r>
            <a:br>
              <a:rPr lang="pl-PL" sz="2000" dirty="0"/>
            </a:b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zaproponuj</a:t>
            </a:r>
            <a:r>
              <a:rPr lang="en-US" sz="2000" dirty="0"/>
              <a:t> </a:t>
            </a:r>
            <a:r>
              <a:rPr lang="en-US" sz="2000" dirty="0" err="1"/>
              <a:t>nową</a:t>
            </a:r>
            <a:r>
              <a:rPr lang="en-US" sz="2000" dirty="0"/>
              <a:t> </a:t>
            </a:r>
            <a:r>
              <a:rPr lang="en-US" sz="2000" dirty="0" err="1"/>
              <a:t>strategię</a:t>
            </a:r>
            <a:r>
              <a:rPr lang="en-US" sz="2000" dirty="0"/>
              <a:t> </a:t>
            </a:r>
            <a:r>
              <a:rPr lang="en-US" sz="2000" dirty="0" err="1"/>
              <a:t>cenową</a:t>
            </a:r>
            <a:r>
              <a:rPr lang="pl-PL" sz="2000" dirty="0"/>
              <a:t>”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System </a:t>
            </a:r>
            <a:r>
              <a:rPr lang="en-US" sz="2000" dirty="0" err="1"/>
              <a:t>generuje</a:t>
            </a:r>
            <a:r>
              <a:rPr lang="en-US" sz="2000" dirty="0"/>
              <a:t> </a:t>
            </a:r>
            <a:r>
              <a:rPr lang="en-US" sz="2000" dirty="0" err="1"/>
              <a:t>gotową</a:t>
            </a:r>
            <a:r>
              <a:rPr lang="en-US" sz="2000" dirty="0"/>
              <a:t> </a:t>
            </a:r>
            <a:r>
              <a:rPr lang="en-US" sz="2000" dirty="0" err="1"/>
              <a:t>analizę</a:t>
            </a:r>
            <a:r>
              <a:rPr lang="en-US" sz="2000" dirty="0"/>
              <a:t>, </a:t>
            </a:r>
            <a:r>
              <a:rPr lang="en-US" sz="2000" dirty="0" err="1"/>
              <a:t>wykresy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szkic</a:t>
            </a:r>
            <a:r>
              <a:rPr lang="en-US" sz="2000" dirty="0"/>
              <a:t> </a:t>
            </a:r>
            <a:r>
              <a:rPr lang="en-US" sz="2000" dirty="0" err="1"/>
              <a:t>maila</a:t>
            </a:r>
            <a:r>
              <a:rPr lang="en-US" sz="2000" dirty="0"/>
              <a:t> do </a:t>
            </a:r>
            <a:r>
              <a:rPr lang="en-US" sz="2000" dirty="0" err="1"/>
              <a:t>działu</a:t>
            </a:r>
            <a:r>
              <a:rPr lang="en-US" sz="2000" dirty="0"/>
              <a:t> </a:t>
            </a:r>
            <a:r>
              <a:rPr lang="en-US" sz="2000" dirty="0" err="1"/>
              <a:t>sprzedaży</a:t>
            </a:r>
            <a:r>
              <a:rPr lang="en-US" sz="2000" dirty="0"/>
              <a:t>.</a:t>
            </a: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pl-PL" sz="2000" dirty="0"/>
              <a:t>Generatywna AI zmienia sposób pracy z ERP, umożliwiając interakcję w języku naturalnym. Użytkownik otrzymuje gotowe analizy i rekomendacje bez konieczności tworzenia zapytań technicznych.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8973F897-9925-E100-7A2C-FBD8EE421D5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2CCD6A1C-77C3-F12C-CAC0-05133582FF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E4C45D83-7C9E-0307-22DE-662550D3F68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B5186E5-A857-0AB0-72B7-0E4AE86585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46E9FE-791C-3A76-029C-1A981A66658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2BA1212-89DD-811A-D330-DBBEA876107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9230" name="Tytuł 1">
            <a:extLst>
              <a:ext uri="{FF2B5EF4-FFF2-40B4-BE49-F238E27FC236}">
                <a16:creationId xmlns:a16="http://schemas.microsoft.com/office/drawing/2014/main" id="{ACBA5761-6A2D-BF3A-9EF9-BA0453327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Chmura (Cloud) jako enabler AI</a:t>
            </a:r>
          </a:p>
        </p:txBody>
      </p:sp>
      <p:sp>
        <p:nvSpPr>
          <p:cNvPr id="9231" name="Symbol zastępczy tekstu 2">
            <a:extLst>
              <a:ext uri="{FF2B5EF4-FFF2-40B4-BE49-F238E27FC236}">
                <a16:creationId xmlns:a16="http://schemas.microsoft.com/office/drawing/2014/main" id="{C29E3007-6D26-A5B5-1AA4-BFFC1CDBC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en-US" altLang="pl-PL" sz="2000" dirty="0" err="1"/>
              <a:t>Dlaczego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chmura</a:t>
            </a:r>
            <a:r>
              <a:rPr lang="en-US" altLang="pl-PL" sz="2000" dirty="0"/>
              <a:t> jest </a:t>
            </a:r>
            <a:r>
              <a:rPr lang="en-US" altLang="pl-PL" sz="2000" dirty="0" err="1"/>
              <a:t>konieczna</a:t>
            </a:r>
            <a:r>
              <a:rPr lang="en-US" altLang="pl-PL" sz="2000" dirty="0"/>
              <a:t>?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Lokalne </a:t>
            </a:r>
            <a:r>
              <a:rPr lang="en-US" altLang="pl-PL" sz="2000" dirty="0" err="1"/>
              <a:t>serwery</a:t>
            </a:r>
            <a:r>
              <a:rPr lang="en-US" altLang="pl-PL" sz="2000" dirty="0"/>
              <a:t> (On-Premise) </a:t>
            </a:r>
            <a:r>
              <a:rPr lang="en-US" altLang="pl-PL" sz="2000" dirty="0" err="1"/>
              <a:t>rzadko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mają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moc</a:t>
            </a:r>
            <a:r>
              <a:rPr lang="en-US" altLang="pl-PL" sz="2000" dirty="0"/>
              <a:t> </a:t>
            </a:r>
            <a:r>
              <a:rPr lang="en-US" altLang="pl-PL" sz="2000" dirty="0" err="1"/>
              <a:t>obliczeniową</a:t>
            </a:r>
            <a:r>
              <a:rPr lang="en-US" altLang="pl-PL" sz="2000" dirty="0"/>
              <a:t> do </a:t>
            </a:r>
            <a:r>
              <a:rPr lang="en-US" altLang="pl-PL" sz="2000" dirty="0" err="1"/>
              <a:t>trenowania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modeli</a:t>
            </a:r>
            <a:r>
              <a:rPr lang="en-US" altLang="pl-PL" sz="2000" dirty="0"/>
              <a:t> AI.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SaaS (Software as a Service):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Dostawcy</a:t>
            </a:r>
            <a:r>
              <a:rPr lang="en-US" altLang="pl-PL" sz="2000" dirty="0"/>
              <a:t> ERP (Oracle, SAP, Microsoft) </a:t>
            </a:r>
            <a:r>
              <a:rPr lang="en-US" altLang="pl-PL" sz="2000" dirty="0" err="1"/>
              <a:t>dostarczają</a:t>
            </a:r>
            <a:r>
              <a:rPr lang="en-US" altLang="pl-PL" sz="2000" dirty="0"/>
              <a:t> </a:t>
            </a:r>
            <a:r>
              <a:rPr lang="en-US" altLang="pl-PL" sz="2000" dirty="0" err="1"/>
              <a:t>gotowe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modele</a:t>
            </a:r>
            <a:r>
              <a:rPr lang="en-US" altLang="pl-PL" sz="2000" dirty="0"/>
              <a:t> AI w </a:t>
            </a:r>
            <a:r>
              <a:rPr lang="en-US" altLang="pl-PL" sz="2000" dirty="0" err="1"/>
              <a:t>ramach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subskrypcji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Demokratyzacja</a:t>
            </a:r>
            <a:r>
              <a:rPr lang="en-US" altLang="pl-PL" sz="2000" dirty="0"/>
              <a:t> AI: Nawet </a:t>
            </a:r>
            <a:r>
              <a:rPr lang="en-US" altLang="pl-PL" sz="2000" dirty="0" err="1"/>
              <a:t>mniejsze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firmy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mogą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korzystać</a:t>
            </a:r>
            <a:r>
              <a:rPr lang="en-US" altLang="pl-PL" sz="2000" dirty="0"/>
              <a:t> z </a:t>
            </a:r>
            <a:r>
              <a:rPr lang="en-US" altLang="pl-PL" sz="2000" dirty="0" err="1"/>
              <a:t>zaawansowanych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algorytmów</a:t>
            </a:r>
            <a:r>
              <a:rPr lang="en-US" altLang="pl-PL" sz="2000" dirty="0"/>
              <a:t> bez </a:t>
            </a:r>
            <a:r>
              <a:rPr lang="en-US" altLang="pl-PL" sz="2000" dirty="0" err="1"/>
              <a:t>budowania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własnego</a:t>
            </a:r>
            <a:r>
              <a:rPr lang="en-US" altLang="pl-PL" sz="2000" dirty="0"/>
              <a:t> Data Center.</a:t>
            </a: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br>
              <a:rPr lang="pl-PL" altLang="pl-PL" sz="2000" dirty="0"/>
            </a:br>
            <a:r>
              <a:rPr lang="pl-PL" sz="2000" dirty="0"/>
              <a:t>Chmura obliczeniowa stanowi kluczowy element wdrażania AI w systemach ERP. Modele sztucznej inteligencji wymagają dużej mocy obliczeniowej, której często nie zapewnia infrastruktura lokalna. Model SaaS umożliwia firmom dostęp do zaawansowanych funkcji AI bez konieczności budowy własnego centrum danych.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7AD63809-9C7B-803E-3E9E-2103B6E77C7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F1A08998-6EF1-F795-7A58-5CCB9D3A40D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4BC3AE9D-A4A7-FB91-48EB-8C78E57592C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F045E84-D744-0FAE-9354-28C639C1A04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1309158-3004-C147-BA9A-2D82E791FC5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6EFE13-14BB-00AA-D2CB-ABD63DEA6B7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254" name="Tytuł 1">
            <a:extLst>
              <a:ext uri="{FF2B5EF4-FFF2-40B4-BE49-F238E27FC236}">
                <a16:creationId xmlns:a16="http://schemas.microsoft.com/office/drawing/2014/main" id="{FCC0D421-BE56-74C9-A638-28D6E84E98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Fundament: Process Mining (Górnictwo Procesów)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AE5D214-86F1-FF33-1E40-4CB9FC39B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 lnSpcReduction="10000"/>
          </a:bodyPr>
          <a:lstStyle/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Problem: </a:t>
            </a:r>
            <a:r>
              <a:rPr lang="en-US" sz="2000" dirty="0" err="1"/>
              <a:t>Rozbieżność</a:t>
            </a:r>
            <a:r>
              <a:rPr lang="en-US" sz="2000" dirty="0"/>
              <a:t> </a:t>
            </a:r>
            <a:r>
              <a:rPr lang="en-US" sz="2000" dirty="0" err="1"/>
              <a:t>między</a:t>
            </a:r>
            <a:r>
              <a:rPr lang="en-US" sz="2000" dirty="0"/>
              <a:t> </a:t>
            </a:r>
            <a:r>
              <a:rPr lang="en-US" sz="2000" dirty="0" err="1"/>
              <a:t>procedurą</a:t>
            </a:r>
            <a:r>
              <a:rPr lang="en-US" sz="2000" dirty="0"/>
              <a:t> a </a:t>
            </a:r>
            <a:r>
              <a:rPr lang="en-US" sz="2000" dirty="0" err="1"/>
              <a:t>rzeczywistością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Rozwiązanie</a:t>
            </a:r>
            <a:r>
              <a:rPr lang="en-US" sz="2000" dirty="0"/>
              <a:t>: Analiza </a:t>
            </a:r>
            <a:r>
              <a:rPr lang="en-US" sz="2000" dirty="0" err="1"/>
              <a:t>logów</a:t>
            </a:r>
            <a:r>
              <a:rPr lang="en-US" sz="2000" dirty="0"/>
              <a:t> </a:t>
            </a:r>
            <a:r>
              <a:rPr lang="en-US" sz="2000" dirty="0" err="1"/>
              <a:t>cyfrowych</a:t>
            </a:r>
            <a:r>
              <a:rPr lang="en-US" sz="2000" dirty="0"/>
              <a:t> (Digital Footprint) z ERP.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EFEKT: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Wizualizacja</a:t>
            </a:r>
            <a:r>
              <a:rPr lang="en-US" sz="2000" dirty="0"/>
              <a:t> </a:t>
            </a:r>
            <a:r>
              <a:rPr lang="pl-PL" sz="2000" dirty="0"/>
              <a:t>„</a:t>
            </a:r>
            <a:r>
              <a:rPr lang="en-US" sz="2000" dirty="0"/>
              <a:t>spaghetti </a:t>
            </a:r>
            <a:r>
              <a:rPr lang="en-US" sz="2000" dirty="0" err="1"/>
              <a:t>proces</a:t>
            </a:r>
            <a:r>
              <a:rPr lang="pl-PL" sz="2000" dirty="0"/>
              <a:t>”</a:t>
            </a:r>
            <a:r>
              <a:rPr lang="en-US" sz="2000" dirty="0"/>
              <a:t> - </a:t>
            </a:r>
            <a:r>
              <a:rPr lang="en-US" sz="2000" dirty="0" err="1"/>
              <a:t>odkrycie</a:t>
            </a:r>
            <a:r>
              <a:rPr lang="en-US" sz="2000" dirty="0"/>
              <a:t> </a:t>
            </a:r>
            <a:r>
              <a:rPr lang="en-US" sz="2000" dirty="0" err="1"/>
              <a:t>wąskich</a:t>
            </a:r>
            <a:r>
              <a:rPr lang="en-US" sz="2000" dirty="0"/>
              <a:t> </a:t>
            </a:r>
            <a:r>
              <a:rPr lang="en-US" sz="2000" dirty="0" err="1"/>
              <a:t>gardeł</a:t>
            </a:r>
            <a:r>
              <a:rPr lang="en-US" sz="2000" dirty="0"/>
              <a:t>, </a:t>
            </a:r>
            <a:r>
              <a:rPr lang="en-US" sz="2000" dirty="0" err="1"/>
              <a:t>pętli</a:t>
            </a:r>
            <a:r>
              <a:rPr lang="en-US" sz="2000" dirty="0"/>
              <a:t> </a:t>
            </a:r>
            <a:r>
              <a:rPr lang="en-US" sz="2000" dirty="0" err="1"/>
              <a:t>akceptacyjnych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nieefektywności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Zasada: </a:t>
            </a:r>
            <a:r>
              <a:rPr lang="pl-PL" sz="2000" dirty="0"/>
              <a:t>„</a:t>
            </a:r>
            <a:r>
              <a:rPr lang="en-US" sz="2000" dirty="0"/>
              <a:t>Don't automate a bad </a:t>
            </a:r>
            <a:r>
              <a:rPr lang="en-US" sz="2000" dirty="0" err="1"/>
              <a:t>proces</a:t>
            </a:r>
            <a:r>
              <a:rPr lang="pl-PL" sz="2000" dirty="0"/>
              <a:t>”</a:t>
            </a:r>
            <a:r>
              <a:rPr lang="en-US" sz="2000" dirty="0"/>
              <a:t> - </a:t>
            </a:r>
            <a:r>
              <a:rPr lang="en-US" sz="2000" dirty="0" err="1"/>
              <a:t>najpierw</a:t>
            </a:r>
            <a:r>
              <a:rPr lang="en-US" sz="2000" dirty="0"/>
              <a:t> </a:t>
            </a:r>
            <a:r>
              <a:rPr lang="en-US" sz="2000" dirty="0" err="1"/>
              <a:t>optymalizacja</a:t>
            </a:r>
            <a:r>
              <a:rPr lang="en-US" sz="2000" dirty="0"/>
              <a:t>, </a:t>
            </a:r>
            <a:r>
              <a:rPr lang="en-US" sz="2000" dirty="0" err="1"/>
              <a:t>potem</a:t>
            </a:r>
            <a:r>
              <a:rPr lang="en-US" sz="2000" dirty="0"/>
              <a:t> </a:t>
            </a:r>
            <a:r>
              <a:rPr lang="en-US" sz="2000" dirty="0" err="1"/>
              <a:t>automatyzacja</a:t>
            </a:r>
            <a:r>
              <a:rPr lang="en-US" sz="2000" dirty="0"/>
              <a:t>.</a:t>
            </a: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br>
              <a:rPr lang="pl-PL" sz="2000" dirty="0"/>
            </a:br>
            <a:r>
              <a:rPr lang="pl-PL" sz="2000" dirty="0" err="1"/>
              <a:t>Process</a:t>
            </a:r>
            <a:r>
              <a:rPr lang="pl-PL" sz="2000" dirty="0"/>
              <a:t> </a:t>
            </a:r>
            <a:r>
              <a:rPr lang="pl-PL" sz="2000" dirty="0" err="1"/>
              <a:t>Mining</a:t>
            </a:r>
            <a:r>
              <a:rPr lang="pl-PL" sz="2000" dirty="0"/>
              <a:t> jest etapem „diagnostyki” przed automatyzacją. Pokazuje realny przebieg procesu na podstawie logów z ERP, co pozwala wykryć wąskie gardła i pętle akceptacji. Dzięki temu automatyzuje się proces zoptymalizowany, a nie „zły proces”.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8784E0A2-AED6-5D53-09FD-2465464F58C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F283C7D1-C23A-DEBE-1E36-0052CDB173F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10FC3347-5C47-3807-BA68-FE1AA3B4748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5F43734-7576-7837-3394-9A2FBBE0706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9B54897-A6A2-0480-2BE6-9E2874B8FA5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9FF997-1FB2-1C60-D0F2-C4BE7D5B7DD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278" name="Tytuł 1">
            <a:extLst>
              <a:ext uri="{FF2B5EF4-FFF2-40B4-BE49-F238E27FC236}">
                <a16:creationId xmlns:a16="http://schemas.microsoft.com/office/drawing/2014/main" id="{34A88384-C4E0-DDC4-2060-D268D38D68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DTO - Cyfrowy Bliźniak Organizacji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7118541-38FD-AEAF-C0FF-FED4A64F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/>
          </a:bodyPr>
          <a:lstStyle/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Digital Twin of an Organization (DTO) to </a:t>
            </a:r>
            <a:r>
              <a:rPr lang="en-US" sz="2000" dirty="0" err="1"/>
              <a:t>wirtualny</a:t>
            </a:r>
            <a:r>
              <a:rPr lang="en-US" sz="2000" dirty="0"/>
              <a:t> model </a:t>
            </a:r>
            <a:r>
              <a:rPr lang="en-US" sz="2000" dirty="0" err="1"/>
              <a:t>procesów</a:t>
            </a:r>
            <a:r>
              <a:rPr lang="en-US" sz="2000" dirty="0"/>
              <a:t> </a:t>
            </a:r>
            <a:r>
              <a:rPr lang="en-US" sz="2000" dirty="0" err="1"/>
              <a:t>firmy</a:t>
            </a:r>
            <a:r>
              <a:rPr lang="en-US" sz="2000" dirty="0"/>
              <a:t>.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SYMULACJE: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Zanim</a:t>
            </a:r>
            <a:r>
              <a:rPr lang="en-US" sz="2000" dirty="0"/>
              <a:t> </a:t>
            </a:r>
            <a:r>
              <a:rPr lang="en-US" sz="2000" dirty="0" err="1"/>
              <a:t>zmienimy</a:t>
            </a:r>
            <a:r>
              <a:rPr lang="en-US" sz="2000" dirty="0"/>
              <a:t> </a:t>
            </a:r>
            <a:r>
              <a:rPr lang="en-US" sz="2000" dirty="0" err="1"/>
              <a:t>proces</a:t>
            </a:r>
            <a:r>
              <a:rPr lang="en-US" sz="2000" dirty="0"/>
              <a:t> w </a:t>
            </a:r>
            <a:r>
              <a:rPr lang="en-US" sz="2000" dirty="0" err="1"/>
              <a:t>prawdziwej</a:t>
            </a:r>
            <a:r>
              <a:rPr lang="en-US" sz="2000" dirty="0"/>
              <a:t> </a:t>
            </a:r>
            <a:r>
              <a:rPr lang="en-US" sz="2000" dirty="0" err="1"/>
              <a:t>firmie</a:t>
            </a:r>
            <a:r>
              <a:rPr lang="en-US" sz="2000" dirty="0"/>
              <a:t>, </a:t>
            </a:r>
            <a:r>
              <a:rPr lang="en-US" sz="2000" dirty="0" err="1"/>
              <a:t>testujemy</a:t>
            </a:r>
            <a:r>
              <a:rPr lang="en-US" sz="2000" dirty="0"/>
              <a:t> </a:t>
            </a:r>
            <a:r>
              <a:rPr lang="en-US" sz="2000" dirty="0" err="1"/>
              <a:t>zmianę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modelu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Pytanie</a:t>
            </a:r>
            <a:r>
              <a:rPr lang="en-US" sz="2000" dirty="0"/>
              <a:t>: </a:t>
            </a:r>
            <a:r>
              <a:rPr lang="pl-PL" sz="2000" dirty="0"/>
              <a:t>„</a:t>
            </a:r>
            <a:r>
              <a:rPr lang="en-US" sz="2000" dirty="0"/>
              <a:t>Co </a:t>
            </a:r>
            <a:r>
              <a:rPr lang="en-US" sz="2000" dirty="0" err="1"/>
              <a:t>się</a:t>
            </a:r>
            <a:r>
              <a:rPr lang="en-US" sz="2000" dirty="0"/>
              <a:t> </a:t>
            </a:r>
            <a:r>
              <a:rPr lang="en-US" sz="2000" dirty="0" err="1"/>
              <a:t>stanie</a:t>
            </a:r>
            <a:r>
              <a:rPr lang="en-US" sz="2000" dirty="0"/>
              <a:t>, </a:t>
            </a:r>
            <a:r>
              <a:rPr lang="en-US" sz="2000" dirty="0" err="1"/>
              <a:t>jeśli</a:t>
            </a:r>
            <a:r>
              <a:rPr lang="en-US" sz="2000" dirty="0"/>
              <a:t> </a:t>
            </a:r>
            <a:r>
              <a:rPr lang="en-US" sz="2000" dirty="0" err="1"/>
              <a:t>zautomatyzujemy</a:t>
            </a:r>
            <a:r>
              <a:rPr lang="en-US" sz="2000" dirty="0"/>
              <a:t> </a:t>
            </a:r>
            <a:r>
              <a:rPr lang="en-US" sz="2000" dirty="0" err="1"/>
              <a:t>fakturowanie</a:t>
            </a:r>
            <a:r>
              <a:rPr lang="en-US" sz="2000" dirty="0"/>
              <a:t> w 80%?</a:t>
            </a:r>
            <a:r>
              <a:rPr lang="pl-PL" sz="2000" dirty="0"/>
              <a:t>”</a:t>
            </a:r>
            <a:endParaRPr lang="en-US" sz="2000" dirty="0"/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DTO </a:t>
            </a:r>
            <a:r>
              <a:rPr lang="en-US" sz="2000" dirty="0" err="1"/>
              <a:t>pozwala</a:t>
            </a:r>
            <a:r>
              <a:rPr lang="en-US" sz="2000" dirty="0"/>
              <a:t> </a:t>
            </a:r>
            <a:r>
              <a:rPr lang="en-US" sz="2000" dirty="0" err="1"/>
              <a:t>przewidzieć</a:t>
            </a:r>
            <a:r>
              <a:rPr lang="en-US" sz="2000" dirty="0"/>
              <a:t> </a:t>
            </a:r>
            <a:r>
              <a:rPr lang="en-US" sz="2000" dirty="0" err="1"/>
              <a:t>wpływ</a:t>
            </a:r>
            <a:r>
              <a:rPr lang="en-US" sz="2000" dirty="0"/>
              <a:t> </a:t>
            </a:r>
            <a:r>
              <a:rPr lang="en-US" sz="2000" dirty="0" err="1"/>
              <a:t>zmian</a:t>
            </a:r>
            <a:r>
              <a:rPr lang="en-US" sz="2000" dirty="0"/>
              <a:t> </a:t>
            </a:r>
            <a:r>
              <a:rPr lang="en-US" sz="2000" dirty="0" err="1"/>
              <a:t>na</a:t>
            </a:r>
            <a:r>
              <a:rPr lang="en-US" sz="2000" dirty="0"/>
              <a:t> </a:t>
            </a:r>
            <a:r>
              <a:rPr lang="en-US" sz="2000" dirty="0" err="1"/>
              <a:t>inne</a:t>
            </a:r>
            <a:r>
              <a:rPr lang="en-US" sz="2000" dirty="0"/>
              <a:t> </a:t>
            </a:r>
            <a:r>
              <a:rPr lang="en-US" sz="2000" dirty="0" err="1"/>
              <a:t>działy</a:t>
            </a:r>
            <a:r>
              <a:rPr lang="en-US" sz="2000" dirty="0"/>
              <a:t>.</a:t>
            </a: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br>
              <a:rPr lang="pl-PL" sz="2000" dirty="0"/>
            </a:br>
            <a:r>
              <a:rPr lang="pl-PL" sz="2000" dirty="0"/>
              <a:t>DTO uzupełnia </a:t>
            </a:r>
            <a:r>
              <a:rPr lang="pl-PL" sz="2000" dirty="0" err="1"/>
              <a:t>Process</a:t>
            </a:r>
            <a:r>
              <a:rPr lang="pl-PL" sz="2000" dirty="0"/>
              <a:t> </a:t>
            </a:r>
            <a:r>
              <a:rPr lang="pl-PL" sz="2000" dirty="0" err="1"/>
              <a:t>Mining</a:t>
            </a:r>
            <a:r>
              <a:rPr lang="pl-PL" sz="2000" dirty="0"/>
              <a:t>: gdy znamy rzeczywisty przebieg procesu, możemy go zasymulować i sprawdzić skutki zmian przed wdrożeniem. To ogranicza ryzyko wdrożeń i pozwala przewidywać wpływ automatyzacji na inne działy.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FD1B8EAD-D826-47A1-8A1B-9936A672529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9796225B-DCA5-BB0D-E271-0F4BDD6EAE4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A151F4DD-B542-4273-5A3F-95A9D5123B7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2F53025-80B2-9E7F-3B58-8C94D6F0A08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85F771-3832-D2C6-832E-23A09493C10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CE3EF37-E7F6-10DA-5528-CB8F088D70F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2302" name="Tytuł 1">
            <a:extLst>
              <a:ext uri="{FF2B5EF4-FFF2-40B4-BE49-F238E27FC236}">
                <a16:creationId xmlns:a16="http://schemas.microsoft.com/office/drawing/2014/main" id="{C98DFD69-BE2F-61D9-DCAE-B6318182AA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Zastosowanie: Finanse (Smart Accounting)</a:t>
            </a:r>
          </a:p>
        </p:txBody>
      </p:sp>
      <p:sp>
        <p:nvSpPr>
          <p:cNvPr id="12303" name="Symbol zastępczy tekstu 2">
            <a:extLst>
              <a:ext uri="{FF2B5EF4-FFF2-40B4-BE49-F238E27FC236}">
                <a16:creationId xmlns:a16="http://schemas.microsoft.com/office/drawing/2014/main" id="{0A7412D2-520B-B9D2-6B40-4E6108DA67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Inteligentny</a:t>
            </a:r>
            <a:r>
              <a:rPr lang="en-US" altLang="pl-PL" sz="2000" dirty="0"/>
              <a:t> OCR: System </a:t>
            </a:r>
            <a:r>
              <a:rPr lang="pl-PL" altLang="pl-PL" sz="2000" dirty="0"/>
              <a:t>„</a:t>
            </a:r>
            <a:r>
              <a:rPr lang="en-US" altLang="pl-PL" sz="2000" dirty="0" err="1"/>
              <a:t>czyta</a:t>
            </a:r>
            <a:r>
              <a:rPr lang="pl-PL" altLang="pl-PL" sz="2000" dirty="0"/>
              <a:t>”</a:t>
            </a:r>
            <a:r>
              <a:rPr lang="en-US" altLang="pl-PL" sz="2000" dirty="0"/>
              <a:t> </a:t>
            </a:r>
            <a:r>
              <a:rPr lang="en-US" altLang="pl-PL" sz="2000" dirty="0" err="1"/>
              <a:t>faktury</a:t>
            </a:r>
            <a:r>
              <a:rPr lang="en-US" altLang="pl-PL" sz="2000" dirty="0"/>
              <a:t> (</a:t>
            </a:r>
            <a:r>
              <a:rPr lang="en-US" altLang="pl-PL" sz="2000" dirty="0" err="1"/>
              <a:t>nawet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zgniecione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skany</a:t>
            </a:r>
            <a:r>
              <a:rPr lang="en-US" altLang="pl-PL" sz="2000" dirty="0"/>
              <a:t>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Automatyczne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księgowanie</a:t>
            </a:r>
            <a:r>
              <a:rPr lang="en-US" altLang="pl-PL" sz="2000" dirty="0"/>
              <a:t>: AI </a:t>
            </a:r>
            <a:r>
              <a:rPr lang="en-US" altLang="pl-PL" sz="2000" dirty="0" err="1"/>
              <a:t>przypisuje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konta</a:t>
            </a:r>
            <a:r>
              <a:rPr lang="en-US" altLang="pl-PL" sz="2000" dirty="0"/>
              <a:t> (MPK)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podstawie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treści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usługi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Continuous Closing: </a:t>
            </a:r>
            <a:r>
              <a:rPr lang="en-US" altLang="pl-PL" sz="2000" dirty="0" err="1"/>
              <a:t>Zamykanie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miesiąca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bieżąco</a:t>
            </a:r>
            <a:r>
              <a:rPr lang="en-US" altLang="pl-PL" sz="2000" dirty="0"/>
              <a:t>, a </a:t>
            </a:r>
            <a:r>
              <a:rPr lang="en-US" altLang="pl-PL" sz="2000" dirty="0" err="1"/>
              <a:t>nie</a:t>
            </a:r>
            <a:r>
              <a:rPr lang="en-US" altLang="pl-PL" sz="2000" dirty="0"/>
              <a:t> w 10 </a:t>
            </a:r>
            <a:r>
              <a:rPr lang="en-US" altLang="pl-PL" sz="2000" dirty="0" err="1"/>
              <a:t>dni</a:t>
            </a:r>
            <a:r>
              <a:rPr lang="en-US" altLang="pl-PL" sz="2000" dirty="0"/>
              <a:t> po </a:t>
            </a:r>
            <a:r>
              <a:rPr lang="en-US" altLang="pl-PL" sz="2000" dirty="0" err="1"/>
              <a:t>jego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zakończeniu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Cash Flow Forecasting: AI </a:t>
            </a:r>
            <a:r>
              <a:rPr lang="en-US" altLang="pl-PL" sz="2000" dirty="0" err="1"/>
              <a:t>przewiduje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lukę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płynności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podstawie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zachowań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płatniczych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klientów</a:t>
            </a:r>
            <a:r>
              <a:rPr lang="en-US" altLang="pl-PL" sz="2000" dirty="0"/>
              <a:t>.</a:t>
            </a:r>
            <a:endParaRPr lang="pl-PL" altLang="pl-PL" sz="20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W obszarze finansów AI automatyzuje przetwarzanie dokumentów oraz księgowanie operacji. Systemy potrafią rozpoznawać treść faktur, przypisywać odpowiednie konta oraz prognozować przepływy pieniężne. Pozwala to na skrócenie czasu zamknięcia okresów rozliczeniowych i ograniczenie błędów.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6E1AB5CE-CD44-7D65-35B0-F6376C3130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D3B1CA3D-F2AC-576F-59C3-15B04B8EDF1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3C3A4375-32C5-E607-EAA8-7E625FADBA9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311D02-7C31-1CCB-0549-5772AF4B632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4CAE6E-6A8F-9CD3-A30F-198E2D9AF7F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720186-CEAC-D699-C062-ACCE53FC1D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3326" name="Tytuł 1">
            <a:extLst>
              <a:ext uri="{FF2B5EF4-FFF2-40B4-BE49-F238E27FC236}">
                <a16:creationId xmlns:a16="http://schemas.microsoft.com/office/drawing/2014/main" id="{02837FCC-14E7-FD96-FC7E-054B0A13FE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Zastosowanie: Łańcuch Dostaw (Supply Chain 4.0)</a:t>
            </a:r>
          </a:p>
        </p:txBody>
      </p:sp>
      <p:sp>
        <p:nvSpPr>
          <p:cNvPr id="13327" name="Symbol zastępczy tekstu 2">
            <a:extLst>
              <a:ext uri="{FF2B5EF4-FFF2-40B4-BE49-F238E27FC236}">
                <a16:creationId xmlns:a16="http://schemas.microsoft.com/office/drawing/2014/main" id="{55BA0CE3-1BCB-4DB5-371C-8F4FE8F02B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Demand Sensing: </a:t>
            </a:r>
            <a:r>
              <a:rPr lang="en-US" altLang="pl-PL" sz="2000" dirty="0" err="1"/>
              <a:t>Prognozowanie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popytu</a:t>
            </a:r>
            <a:r>
              <a:rPr lang="en-US" altLang="pl-PL" sz="2000" dirty="0"/>
              <a:t> z </a:t>
            </a:r>
            <a:r>
              <a:rPr lang="en-US" altLang="pl-PL" sz="2000" dirty="0" err="1"/>
              <a:t>uwzględnieniem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pogody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trendów</a:t>
            </a:r>
            <a:r>
              <a:rPr lang="en-US" altLang="pl-PL" sz="2000" dirty="0"/>
              <a:t> social media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inflacji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Autonomiczne </a:t>
            </a:r>
            <a:r>
              <a:rPr lang="en-US" altLang="pl-PL" sz="2000" dirty="0" err="1"/>
              <a:t>Zakupy</a:t>
            </a:r>
            <a:r>
              <a:rPr lang="en-US" altLang="pl-PL" sz="2000" dirty="0"/>
              <a:t>: ERP </a:t>
            </a:r>
            <a:r>
              <a:rPr lang="en-US" altLang="pl-PL" sz="2000" dirty="0" err="1"/>
              <a:t>sam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domawia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towar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gdy</a:t>
            </a:r>
            <a:r>
              <a:rPr lang="en-US" altLang="pl-PL" sz="2000" dirty="0"/>
              <a:t> stan </a:t>
            </a:r>
            <a:r>
              <a:rPr lang="en-US" altLang="pl-PL" sz="2000" dirty="0" err="1"/>
              <a:t>spadnie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poniżej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punktu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krytycznego</a:t>
            </a:r>
            <a:r>
              <a:rPr lang="en-US" altLang="pl-PL" sz="2000" dirty="0"/>
              <a:t> (</a:t>
            </a:r>
            <a:r>
              <a:rPr lang="en-US" altLang="pl-PL" sz="2000" dirty="0" err="1"/>
              <a:t>uwzględniając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czas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dostawy</a:t>
            </a:r>
            <a:r>
              <a:rPr lang="en-US" altLang="pl-PL" sz="2000" dirty="0"/>
              <a:t>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Optymalizacja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Tras</a:t>
            </a:r>
            <a:r>
              <a:rPr lang="en-US" altLang="pl-PL" sz="2000" dirty="0"/>
              <a:t>: AI </a:t>
            </a:r>
            <a:r>
              <a:rPr lang="en-US" altLang="pl-PL" sz="2000" dirty="0" err="1"/>
              <a:t>planuje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trasy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floty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oszczędzając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paliwo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czas</a:t>
            </a:r>
            <a:r>
              <a:rPr lang="en-US" altLang="pl-PL" sz="2000" dirty="0"/>
              <a:t>.</a:t>
            </a:r>
            <a:endParaRPr lang="pl-PL" altLang="pl-PL" sz="20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Nowoczesne systemy ERP wspierane przez AI umożliwiają dokładniejsze prognozowanie popytu. Uwzględniają one dane historyczne oraz czynniki zewnętrzne, takie jak sezonowość czy trendy rynkowe. Automatyzacja zakupów i logistyki zmniejsza ryzyko braków magazynowych.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BC01B728-6F62-0236-FAEA-A31930A4966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1128B124-B930-55A6-9BFE-32A7D99AA35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DEB4F560-FC09-5511-8D5B-7CA02194A22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80CD799-D29C-8FFC-DA4D-A6823437460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CF2CB9A-C323-94E8-88C6-10E76172ABF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DFC84B3-2C1D-82A4-AF5F-DD9EE7E2CBA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4350" name="Tytuł 1">
            <a:extLst>
              <a:ext uri="{FF2B5EF4-FFF2-40B4-BE49-F238E27FC236}">
                <a16:creationId xmlns:a16="http://schemas.microsoft.com/office/drawing/2014/main" id="{3ECB52D4-20D7-81C7-1EF6-D2A5193655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Zastosowanie: Produkcja i IoT</a:t>
            </a:r>
          </a:p>
        </p:txBody>
      </p:sp>
      <p:sp>
        <p:nvSpPr>
          <p:cNvPr id="14351" name="Symbol zastępczy tekstu 2">
            <a:extLst>
              <a:ext uri="{FF2B5EF4-FFF2-40B4-BE49-F238E27FC236}">
                <a16:creationId xmlns:a16="http://schemas.microsoft.com/office/drawing/2014/main" id="{FF82682F-0E0D-4DB5-460A-075A61C9DA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Predictive Maintenance: </a:t>
            </a:r>
            <a:r>
              <a:rPr lang="en-US" altLang="pl-PL" sz="2000" dirty="0" err="1"/>
              <a:t>Czujniki</a:t>
            </a:r>
            <a:r>
              <a:rPr lang="en-US" altLang="pl-PL" sz="2000" dirty="0"/>
              <a:t> </a:t>
            </a:r>
            <a:br>
              <a:rPr lang="pl-PL" altLang="pl-PL" sz="2000" dirty="0"/>
            </a:br>
            <a:r>
              <a:rPr lang="en-US" altLang="pl-PL" sz="2000" dirty="0"/>
              <a:t>w </a:t>
            </a:r>
            <a:r>
              <a:rPr lang="en-US" altLang="pl-PL" sz="2000" dirty="0" err="1"/>
              <a:t>maszynach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informują</a:t>
            </a:r>
            <a:r>
              <a:rPr lang="en-US" altLang="pl-PL" sz="2000" dirty="0"/>
              <a:t> ERP o </a:t>
            </a:r>
            <a:r>
              <a:rPr lang="en-US" altLang="pl-PL" sz="2000" dirty="0" err="1"/>
              <a:t>wibracjach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Model ML </a:t>
            </a:r>
            <a:r>
              <a:rPr lang="en-US" altLang="pl-PL" sz="2000" dirty="0" err="1"/>
              <a:t>przewiduje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awarię</a:t>
            </a:r>
            <a:r>
              <a:rPr lang="en-US" altLang="pl-PL" sz="2000" dirty="0"/>
              <a:t> za 48h -&gt; System </a:t>
            </a:r>
            <a:r>
              <a:rPr lang="en-US" altLang="pl-PL" sz="2000" dirty="0" err="1"/>
              <a:t>sam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zamawia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część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rezerwuje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serwisanta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Computer Vision (</a:t>
            </a:r>
            <a:r>
              <a:rPr lang="en-US" altLang="pl-PL" sz="2000" dirty="0" err="1"/>
              <a:t>Kontrola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Jakości</a:t>
            </a:r>
            <a:r>
              <a:rPr lang="en-US" altLang="pl-PL" sz="2000" dirty="0"/>
              <a:t>): Kamery AI </a:t>
            </a:r>
            <a:r>
              <a:rPr lang="en-US" altLang="pl-PL" sz="2000" dirty="0" err="1"/>
              <a:t>wykrywają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mikrouszkodzenia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produktów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taśmie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których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widzi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ludzkie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oko</a:t>
            </a:r>
            <a:r>
              <a:rPr lang="en-US" altLang="pl-PL" sz="2000" dirty="0"/>
              <a:t>.</a:t>
            </a: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Integracja ERP z Internetem Rzeczy umożliwia monitorowanie stanu maszyn w czasie rzeczywistym. Algorytmy predykcyjne pozwalają przewidywać awarie i planować konserwację. Dzięki temu przedsiębiorstwo może ograniczyć przestoje i koszty utrzymania produkcji.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58D8D10A-105A-81E6-D08B-94F9FF64028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0C78FCAF-D89E-258D-EADB-F32B7A3B652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8E99BCCB-803E-D355-FEBD-CD72613A86F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FE0F2F-EC62-0815-0161-B6D595E74CD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1CFB90-40D5-138A-E2B3-31BEBEA7176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E8502D4-7F35-6B04-2850-E57A5657A5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5374" name="Tytuł 1">
            <a:extLst>
              <a:ext uri="{FF2B5EF4-FFF2-40B4-BE49-F238E27FC236}">
                <a16:creationId xmlns:a16="http://schemas.microsoft.com/office/drawing/2014/main" id="{F83FAA6B-440A-E999-F4E7-5BACA5B3C2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Zastosowanie: HR i Kapitał Ludzki</a:t>
            </a:r>
          </a:p>
        </p:txBody>
      </p:sp>
      <p:sp>
        <p:nvSpPr>
          <p:cNvPr id="15375" name="Symbol zastępczy tekstu 2">
            <a:extLst>
              <a:ext uri="{FF2B5EF4-FFF2-40B4-BE49-F238E27FC236}">
                <a16:creationId xmlns:a16="http://schemas.microsoft.com/office/drawing/2014/main" id="{86B77C87-A63A-2B30-6474-6658BA9FEA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Rekrutacja</a:t>
            </a:r>
            <a:r>
              <a:rPr lang="en-US" altLang="pl-PL" sz="2000" dirty="0"/>
              <a:t>: AI </a:t>
            </a:r>
            <a:r>
              <a:rPr lang="en-US" altLang="pl-PL" sz="2000" dirty="0" err="1"/>
              <a:t>filtruje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tysiące</a:t>
            </a:r>
            <a:r>
              <a:rPr lang="en-US" altLang="pl-PL" sz="2000" dirty="0"/>
              <a:t> CV, </a:t>
            </a:r>
            <a:r>
              <a:rPr lang="en-US" altLang="pl-PL" sz="2000" dirty="0" err="1"/>
              <a:t>szukając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słów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kluczowych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kompetencji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Retention Management: Analiza </a:t>
            </a:r>
            <a:r>
              <a:rPr lang="en-US" altLang="pl-PL" sz="2000" dirty="0" err="1"/>
              <a:t>ryzyka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odejścia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pracowników</a:t>
            </a:r>
            <a:r>
              <a:rPr lang="en-US" altLang="pl-PL" sz="2000" dirty="0"/>
              <a:t> (churn)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podstawie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braku</a:t>
            </a:r>
            <a:r>
              <a:rPr lang="en-US" altLang="pl-PL" sz="2000" dirty="0"/>
              <a:t> </a:t>
            </a:r>
            <a:r>
              <a:rPr lang="en-US" altLang="pl-PL" sz="2000" dirty="0" err="1"/>
              <a:t>awansów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nadgodzin</a:t>
            </a:r>
            <a:r>
              <a:rPr lang="en-US" altLang="pl-PL" sz="2000" dirty="0"/>
              <a:t> </a:t>
            </a:r>
            <a:br>
              <a:rPr lang="en-US" altLang="pl-PL" sz="2000" dirty="0"/>
            </a:b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odległości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dojazdu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Employee Self-Service: </a:t>
            </a:r>
            <a:r>
              <a:rPr lang="en-US" altLang="pl-PL" sz="2000" dirty="0" err="1"/>
              <a:t>Chatboty</a:t>
            </a:r>
            <a:r>
              <a:rPr lang="en-US" altLang="pl-PL" sz="2000" dirty="0"/>
              <a:t> HR </a:t>
            </a:r>
            <a:r>
              <a:rPr lang="en-US" altLang="pl-PL" sz="2000" dirty="0" err="1"/>
              <a:t>odpowiadające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pytania</a:t>
            </a:r>
            <a:r>
              <a:rPr lang="en-US" altLang="pl-PL" sz="2000" dirty="0"/>
              <a:t> o </a:t>
            </a:r>
            <a:r>
              <a:rPr lang="en-US" altLang="pl-PL" sz="2000" dirty="0" err="1"/>
              <a:t>urlopy</a:t>
            </a:r>
            <a:r>
              <a:rPr lang="en-US" altLang="pl-PL" sz="2000" dirty="0"/>
              <a:t> </a:t>
            </a:r>
            <a:br>
              <a:rPr lang="pl-PL" altLang="pl-PL" sz="2000" dirty="0"/>
            </a:b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paski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płac</a:t>
            </a:r>
            <a:r>
              <a:rPr lang="en-US" altLang="pl-PL" sz="2000" dirty="0"/>
              <a:t> 24/7.</a:t>
            </a: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W obszarze zarządzania zasobami ludzkimi AI wspiera rekrutację oraz analizę danych kadrowych. Systemy potrafią identyfikować ryzyko rotacji pracowników oraz automatyzować obsługę zapytań kadrowych. Poprawia to efektywność działu HR i doświadczenie pracowników.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D34A043A-54BC-C5DA-670C-D0223030A20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18E50247-B974-563C-15A9-4E008ABEE9B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E4800D7F-F33B-01C5-8B10-E76A5185957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EDFBA6-22F6-589C-DD0C-DC44606C188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EE120B-E746-7C65-4BE2-7B5FE859A96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A6D194-8545-656D-C685-6EEF20D83A9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398" name="Tytuł 1">
            <a:extLst>
              <a:ext uri="{FF2B5EF4-FFF2-40B4-BE49-F238E27FC236}">
                <a16:creationId xmlns:a16="http://schemas.microsoft.com/office/drawing/2014/main" id="{98F482AB-FB96-1AC5-B260-B9E28CFE11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Zastosowanie: Sprzedaż i CRM (Customer Experience)</a:t>
            </a:r>
          </a:p>
        </p:txBody>
      </p:sp>
      <p:sp>
        <p:nvSpPr>
          <p:cNvPr id="16399" name="Symbol zastępczy tekstu 2">
            <a:extLst>
              <a:ext uri="{FF2B5EF4-FFF2-40B4-BE49-F238E27FC236}">
                <a16:creationId xmlns:a16="http://schemas.microsoft.com/office/drawing/2014/main" id="{CF30B6F6-79E8-3430-B742-A3F7BD937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Hiper-personalizacja</a:t>
            </a:r>
            <a:r>
              <a:rPr lang="en-US" altLang="pl-PL" sz="2000" dirty="0"/>
              <a:t>: AI </a:t>
            </a:r>
            <a:r>
              <a:rPr lang="en-US" altLang="pl-PL" sz="2000" dirty="0" err="1"/>
              <a:t>analizuje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historię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zakupów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klienta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sugeruje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handlowcowi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idealny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produkt</a:t>
            </a:r>
            <a:r>
              <a:rPr lang="en-US" altLang="pl-PL" sz="2000" dirty="0"/>
              <a:t> do </a:t>
            </a:r>
            <a:r>
              <a:rPr lang="en-US" altLang="pl-PL" sz="2000" dirty="0" err="1"/>
              <a:t>dosprzedaży</a:t>
            </a:r>
            <a:r>
              <a:rPr lang="en-US" altLang="pl-PL" sz="2000" dirty="0"/>
              <a:t> (Cross-selling).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Lead Scoring: </a:t>
            </a:r>
            <a:r>
              <a:rPr lang="en-US" altLang="pl-PL" sz="2000" dirty="0" err="1"/>
              <a:t>Algorytm</a:t>
            </a:r>
            <a:r>
              <a:rPr lang="en-US" altLang="pl-PL" sz="2000" dirty="0"/>
              <a:t> </a:t>
            </a:r>
            <a:r>
              <a:rPr lang="en-US" altLang="pl-PL" sz="2000" dirty="0" err="1"/>
              <a:t>ocenia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który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klient</a:t>
            </a:r>
            <a:r>
              <a:rPr lang="en-US" altLang="pl-PL" sz="2000" dirty="0"/>
              <a:t> jest </a:t>
            </a:r>
            <a:r>
              <a:rPr lang="en-US" altLang="pl-PL" sz="2000" dirty="0" err="1"/>
              <a:t>gotowy</a:t>
            </a:r>
            <a:r>
              <a:rPr lang="en-US" altLang="pl-PL" sz="2000" dirty="0"/>
              <a:t> do </a:t>
            </a:r>
            <a:r>
              <a:rPr lang="en-US" altLang="pl-PL" sz="2000" dirty="0" err="1"/>
              <a:t>zakupu</a:t>
            </a:r>
            <a:r>
              <a:rPr lang="en-US" altLang="pl-PL" sz="2000" dirty="0"/>
              <a:t>, a </a:t>
            </a:r>
            <a:r>
              <a:rPr lang="en-US" altLang="pl-PL" sz="2000" dirty="0" err="1"/>
              <a:t>który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tylko</a:t>
            </a:r>
            <a:r>
              <a:rPr lang="en-US" altLang="pl-PL" sz="2000" dirty="0"/>
              <a:t> </a:t>
            </a:r>
            <a:r>
              <a:rPr lang="pl-PL" altLang="pl-PL" sz="2000" dirty="0"/>
              <a:t>„</a:t>
            </a:r>
            <a:r>
              <a:rPr lang="en-US" altLang="pl-PL" sz="2000" dirty="0" err="1"/>
              <a:t>ogląda</a:t>
            </a:r>
            <a:r>
              <a:rPr lang="pl-PL" altLang="pl-PL" sz="2000" dirty="0"/>
              <a:t>”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Dynamic Pricing: </a:t>
            </a:r>
            <a:r>
              <a:rPr lang="en-US" altLang="pl-PL" sz="2000" dirty="0" err="1"/>
              <a:t>Automatyczne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dostosowanie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cen</a:t>
            </a:r>
            <a:r>
              <a:rPr lang="en-US" altLang="pl-PL" sz="2000" dirty="0"/>
              <a:t> w </a:t>
            </a:r>
            <a:r>
              <a:rPr lang="en-US" altLang="pl-PL" sz="2000" dirty="0" err="1"/>
              <a:t>sklepie</a:t>
            </a:r>
            <a:r>
              <a:rPr lang="en-US" altLang="pl-PL" sz="2000" dirty="0"/>
              <a:t> </a:t>
            </a:r>
            <a:br>
              <a:rPr lang="pl-PL" altLang="pl-PL" sz="2000" dirty="0"/>
            </a:br>
            <a:r>
              <a:rPr lang="en-US" altLang="pl-PL" sz="2000" dirty="0"/>
              <a:t>e-commerce do </a:t>
            </a:r>
            <a:r>
              <a:rPr lang="en-US" altLang="pl-PL" sz="2000" dirty="0" err="1"/>
              <a:t>cen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konkurencji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popytu</a:t>
            </a:r>
            <a:r>
              <a:rPr lang="en-US" altLang="pl-PL" sz="2000" dirty="0"/>
              <a:t>.</a:t>
            </a: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AI w systemach CRM umożliwia personalizację ofert oraz ocenę potencjału sprzedażowego klientów. Algorytmy analizują historię zakupów i zachowania klientów, wspierając handlowców w podejmowaniu decyzji. Pozwala to zwiększyć skuteczność sprzedaży.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0C1727-2AB3-23F4-9931-B904E51C8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065F49FB-6C7F-FFC8-3FD1-B5623F474C0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FA91BB39-32E1-2E6D-3B8C-A9AD3416ECB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908007DA-AB83-9079-E140-6C22E2FA0F4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A5A7A3-118F-6C32-E998-2147A4B0C0A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5891C7A-9A37-A729-F50F-8541BD39073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CF244AF-B101-84D5-CE91-57369AB7FEB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398" name="Tytuł 1">
            <a:extLst>
              <a:ext uri="{FF2B5EF4-FFF2-40B4-BE49-F238E27FC236}">
                <a16:creationId xmlns:a16="http://schemas.microsoft.com/office/drawing/2014/main" id="{3369DE58-7AF4-8BDF-1B62-3A3567444C2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 dirty="0" err="1">
                <a:solidFill>
                  <a:srgbClr val="FFFFFF"/>
                </a:solidFill>
              </a:rPr>
              <a:t>Zastosowani</a:t>
            </a:r>
            <a:r>
              <a:rPr lang="pl-PL" altLang="pl-PL" sz="4000" b="1" dirty="0">
                <a:solidFill>
                  <a:srgbClr val="FFFFFF"/>
                </a:solidFill>
              </a:rPr>
              <a:t>a:</a:t>
            </a:r>
            <a:br>
              <a:rPr lang="pl-PL" altLang="pl-PL" sz="4000" b="1" dirty="0">
                <a:solidFill>
                  <a:srgbClr val="FFFFFF"/>
                </a:solidFill>
              </a:rPr>
            </a:br>
            <a:r>
              <a:rPr lang="pl-PL" altLang="pl-PL" sz="4000" b="1" dirty="0">
                <a:solidFill>
                  <a:srgbClr val="FFFFFF"/>
                </a:solidFill>
              </a:rPr>
              <a:t>Przykłady</a:t>
            </a:r>
            <a:endParaRPr lang="en-US" altLang="pl-PL" sz="4000" b="1" dirty="0">
              <a:solidFill>
                <a:srgbClr val="FFFFFF"/>
              </a:solidFill>
            </a:endParaRPr>
          </a:p>
        </p:txBody>
      </p:sp>
      <p:sp>
        <p:nvSpPr>
          <p:cNvPr id="16399" name="Symbol zastępczy tekstu 2">
            <a:extLst>
              <a:ext uri="{FF2B5EF4-FFF2-40B4-BE49-F238E27FC236}">
                <a16:creationId xmlns:a16="http://schemas.microsoft.com/office/drawing/2014/main" id="{3AEBCFDA-30B5-240C-A5FB-5DC9D33BD0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Przykłady zastosowań sektorowych pokazują, że AI w ERP ma charakter przekrojowy. Niezależnie od obszaru (finanse, logistyka, HR, produkcja, sprzedaż) celem jest zwiększenie efektywności operacyjnej, redukcja błędów i szybsze decyzje oparte na danych.</a:t>
            </a:r>
            <a:endParaRPr lang="en-US" altLang="pl-PL" sz="2000" dirty="0"/>
          </a:p>
        </p:txBody>
      </p:sp>
    </p:spTree>
    <p:extLst>
      <p:ext uri="{BB962C8B-B14F-4D97-AF65-F5344CB8AC3E}">
        <p14:creationId xmlns:p14="http://schemas.microsoft.com/office/powerpoint/2010/main" val="1052588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67457388-0693-6883-6592-24DA34DBD48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0C49ADA3-B760-BC26-F249-838EB8642ED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ADD35C5D-38F8-752B-D57B-7927304D9F8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193779-8D48-8876-281C-C6D64E05DC5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6C4ADA-6FCA-691B-A113-DCB8F2DB537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AEB7BF5-C8CA-7724-5BC9-3BB042DAE58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7422" name="Tytuł 1">
            <a:extLst>
              <a:ext uri="{FF2B5EF4-FFF2-40B4-BE49-F238E27FC236}">
                <a16:creationId xmlns:a16="http://schemas.microsoft.com/office/drawing/2014/main" id="{E76BBFD4-504F-BD77-72DD-485363F22B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Nowy wymiar: Raportowanie ESG i AI</a:t>
            </a:r>
          </a:p>
        </p:txBody>
      </p:sp>
      <p:sp>
        <p:nvSpPr>
          <p:cNvPr id="17423" name="Symbol zastępczy tekstu 2">
            <a:extLst>
              <a:ext uri="{FF2B5EF4-FFF2-40B4-BE49-F238E27FC236}">
                <a16:creationId xmlns:a16="http://schemas.microsoft.com/office/drawing/2014/main" id="{73184943-A73C-3991-CB8F-CB715F6A92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Wyzwanie</a:t>
            </a:r>
            <a:r>
              <a:rPr lang="en-US" altLang="pl-PL" sz="2000" dirty="0"/>
              <a:t>: </a:t>
            </a:r>
            <a:r>
              <a:rPr lang="en-US" altLang="pl-PL" sz="2000" dirty="0" err="1"/>
              <a:t>Dyrektywa</a:t>
            </a:r>
            <a:r>
              <a:rPr lang="en-US" altLang="pl-PL" sz="2000" dirty="0"/>
              <a:t> CSRD </a:t>
            </a:r>
            <a:r>
              <a:rPr lang="en-US" altLang="pl-PL" sz="2000" dirty="0" err="1"/>
              <a:t>wymaga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raportowania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śladu</a:t>
            </a:r>
            <a:r>
              <a:rPr lang="en-US" altLang="pl-PL" sz="2000" dirty="0"/>
              <a:t> </a:t>
            </a:r>
            <a:r>
              <a:rPr lang="en-US" altLang="pl-PL" sz="2000" dirty="0" err="1"/>
              <a:t>węglowego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Rola </a:t>
            </a:r>
            <a:r>
              <a:rPr lang="en-US" altLang="pl-PL" sz="2000" dirty="0" err="1"/>
              <a:t>iERP</a:t>
            </a:r>
            <a:r>
              <a:rPr lang="en-US" altLang="pl-PL" sz="2000" dirty="0"/>
              <a:t>: </a:t>
            </a:r>
            <a:r>
              <a:rPr lang="en-US" altLang="pl-PL" sz="2000" dirty="0" err="1"/>
              <a:t>Automatyczne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zbieranie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danych</a:t>
            </a:r>
            <a:r>
              <a:rPr lang="en-US" altLang="pl-PL" sz="2000" dirty="0"/>
              <a:t> o </a:t>
            </a:r>
            <a:r>
              <a:rPr lang="en-US" altLang="pl-PL" sz="2000" dirty="0" err="1"/>
              <a:t>zużyciu</a:t>
            </a:r>
            <a:r>
              <a:rPr lang="en-US" altLang="pl-PL" sz="2000" dirty="0"/>
              <a:t> </a:t>
            </a:r>
            <a:r>
              <a:rPr lang="en-US" altLang="pl-PL" sz="2000" dirty="0" err="1"/>
              <a:t>energii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paliwa</a:t>
            </a:r>
            <a:r>
              <a:rPr lang="en-US" altLang="pl-PL" sz="2000" dirty="0"/>
              <a:t> </a:t>
            </a:r>
            <a:br>
              <a:rPr lang="pl-PL" altLang="pl-PL" sz="2000" dirty="0"/>
            </a:b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surowców</a:t>
            </a:r>
            <a:r>
              <a:rPr lang="en-US" altLang="pl-PL" sz="2000" dirty="0"/>
              <a:t> z </a:t>
            </a:r>
            <a:r>
              <a:rPr lang="en-US" altLang="pl-PL" sz="2000" dirty="0" err="1"/>
              <a:t>liczników</a:t>
            </a:r>
            <a:r>
              <a:rPr lang="en-US" altLang="pl-PL" sz="2000" dirty="0"/>
              <a:t> IoT.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Optymalizacja</a:t>
            </a:r>
            <a:r>
              <a:rPr lang="en-US" altLang="pl-PL" sz="2000" dirty="0"/>
              <a:t>: AI </a:t>
            </a:r>
            <a:r>
              <a:rPr lang="en-US" altLang="pl-PL" sz="2000" dirty="0" err="1"/>
              <a:t>sugeruje</a:t>
            </a:r>
            <a:r>
              <a:rPr lang="en-US" altLang="pl-PL" sz="2000" dirty="0"/>
              <a:t>, jak </a:t>
            </a:r>
            <a:r>
              <a:rPr lang="en-US" altLang="pl-PL" sz="2000" dirty="0" err="1"/>
              <a:t>zmienić</a:t>
            </a:r>
            <a:r>
              <a:rPr lang="en-US" altLang="pl-PL" sz="2000" dirty="0"/>
              <a:t> </a:t>
            </a:r>
            <a:r>
              <a:rPr lang="en-US" altLang="pl-PL" sz="2000" dirty="0" err="1"/>
              <a:t>harmonogram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produkcji</a:t>
            </a:r>
            <a:r>
              <a:rPr lang="en-US" altLang="pl-PL" sz="2000" dirty="0"/>
              <a:t>, aby </a:t>
            </a:r>
            <a:r>
              <a:rPr lang="en-US" altLang="pl-PL" sz="2000" dirty="0" err="1"/>
              <a:t>korzystać</a:t>
            </a:r>
            <a:r>
              <a:rPr lang="en-US" altLang="pl-PL" sz="2000" dirty="0"/>
              <a:t> </a:t>
            </a:r>
            <a:br>
              <a:rPr lang="pl-PL" altLang="pl-PL" sz="2000" dirty="0"/>
            </a:br>
            <a:r>
              <a:rPr lang="en-US" altLang="pl-PL" sz="2000" dirty="0"/>
              <a:t>z </a:t>
            </a:r>
            <a:r>
              <a:rPr lang="en-US" altLang="pl-PL" sz="2000" dirty="0" err="1"/>
              <a:t>tańszej</a:t>
            </a:r>
            <a:r>
              <a:rPr lang="en-US" altLang="pl-PL" sz="2000" dirty="0"/>
              <a:t>/</a:t>
            </a:r>
            <a:r>
              <a:rPr lang="en-US" altLang="pl-PL" sz="2000" dirty="0" err="1"/>
              <a:t>zielonej</a:t>
            </a:r>
            <a:r>
              <a:rPr lang="en-US" altLang="pl-PL" sz="2000" dirty="0"/>
              <a:t> </a:t>
            </a:r>
            <a:r>
              <a:rPr lang="en-US" altLang="pl-PL" sz="2000" dirty="0" err="1"/>
              <a:t>energii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Transparentność</a:t>
            </a:r>
            <a:r>
              <a:rPr lang="en-US" altLang="pl-PL" sz="2000" dirty="0"/>
              <a:t> </a:t>
            </a:r>
            <a:r>
              <a:rPr lang="en-US" altLang="pl-PL" sz="2000" dirty="0" err="1"/>
              <a:t>łańcucha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dostaw</a:t>
            </a:r>
            <a:r>
              <a:rPr lang="en-US" altLang="pl-PL" sz="2000" dirty="0"/>
              <a:t>: </a:t>
            </a:r>
            <a:r>
              <a:rPr lang="en-US" altLang="pl-PL" sz="2000" dirty="0" err="1"/>
              <a:t>Śledzenie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pochodzenia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surowców</a:t>
            </a:r>
            <a:r>
              <a:rPr lang="en-US" altLang="pl-PL" sz="2000" dirty="0"/>
              <a:t>.</a:t>
            </a: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Systemy </a:t>
            </a:r>
            <a:r>
              <a:rPr lang="pl-PL" sz="2000" dirty="0" err="1"/>
              <a:t>iERP</a:t>
            </a:r>
            <a:r>
              <a:rPr lang="pl-PL" sz="2000" dirty="0"/>
              <a:t> wspierają zbieranie danych wymaganych do raportowania ESG. Automatyzują analizę zużycia energii, paliw i surowców. AI może dodatkowo sugerować działania zmniejszające negatywny wpływ przedsiębiorstwa na środowisko.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0B8368BE-7F5C-B1C3-C515-E30C379EAD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6BF9678A-6543-4E57-B4E5-E9C085177E3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5A139A10-5C5C-F23C-DDF5-C06A15A393F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C87F1DB-18E2-2F28-4AF8-42BE9293C85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1D05F87-1979-5611-90E5-05DDB63E8F9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3DE0BE4-7795-676F-3518-F6AF56C9F83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8446" name="Tytuł 1">
            <a:extLst>
              <a:ext uri="{FF2B5EF4-FFF2-40B4-BE49-F238E27FC236}">
                <a16:creationId xmlns:a16="http://schemas.microsoft.com/office/drawing/2014/main" id="{9D039581-51C4-3610-5DDC-53570D4BBC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Studium Przypadku: Polski Lider Logistyki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80D5E9DC-695D-9ED3-BFD5-0C23AECB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 lnSpcReduction="10000"/>
          </a:bodyPr>
          <a:lstStyle/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PROFIL FIRMY: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Operator </a:t>
            </a:r>
            <a:r>
              <a:rPr lang="en-US" sz="2000" dirty="0" err="1"/>
              <a:t>logistyczny</a:t>
            </a:r>
            <a:r>
              <a:rPr lang="en-US" sz="2000" dirty="0"/>
              <a:t>, 5000 </a:t>
            </a:r>
            <a:r>
              <a:rPr lang="en-US" sz="2000" dirty="0" err="1"/>
              <a:t>faktur</a:t>
            </a:r>
            <a:r>
              <a:rPr lang="en-US" sz="2000" dirty="0"/>
              <a:t>/mc, 3 </a:t>
            </a:r>
            <a:r>
              <a:rPr lang="en-US" sz="2000" dirty="0" err="1"/>
              <a:t>magazyny</a:t>
            </a:r>
            <a:r>
              <a:rPr lang="en-US" sz="2000" dirty="0"/>
              <a:t> </a:t>
            </a:r>
            <a:r>
              <a:rPr lang="en-US" sz="2000" dirty="0" err="1"/>
              <a:t>centralne</a:t>
            </a:r>
            <a:r>
              <a:rPr lang="en-US" sz="2000" dirty="0"/>
              <a:t>.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PROBLEMY: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Zatory</a:t>
            </a:r>
            <a:r>
              <a:rPr lang="en-US" sz="2000" dirty="0"/>
              <a:t> </a:t>
            </a:r>
            <a:r>
              <a:rPr lang="en-US" sz="2000" dirty="0" err="1"/>
              <a:t>płatnicze</a:t>
            </a:r>
            <a:r>
              <a:rPr lang="en-US" sz="2000" dirty="0"/>
              <a:t> (</a:t>
            </a:r>
            <a:r>
              <a:rPr lang="en-US" sz="2000" dirty="0" err="1"/>
              <a:t>ręczne</a:t>
            </a:r>
            <a:r>
              <a:rPr lang="en-US" sz="2000" dirty="0"/>
              <a:t> </a:t>
            </a:r>
            <a:r>
              <a:rPr lang="en-US" sz="2000" dirty="0" err="1"/>
              <a:t>wprowadzanie</a:t>
            </a:r>
            <a:r>
              <a:rPr lang="en-US" sz="2000" dirty="0"/>
              <a:t> </a:t>
            </a:r>
            <a:r>
              <a:rPr lang="en-US" sz="2000" dirty="0" err="1"/>
              <a:t>faktur</a:t>
            </a:r>
            <a:r>
              <a:rPr lang="en-US" sz="2000" dirty="0"/>
              <a:t> </a:t>
            </a:r>
            <a:r>
              <a:rPr lang="en-US" sz="2000" dirty="0" err="1"/>
              <a:t>trwało</a:t>
            </a:r>
            <a:r>
              <a:rPr lang="en-US" sz="2000" dirty="0"/>
              <a:t> 2 tyg).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Częste</a:t>
            </a:r>
            <a:r>
              <a:rPr lang="en-US" sz="2000" dirty="0"/>
              <a:t> </a:t>
            </a:r>
            <a:r>
              <a:rPr lang="en-US" sz="2000" dirty="0" err="1"/>
              <a:t>braki</a:t>
            </a:r>
            <a:r>
              <a:rPr lang="en-US" sz="2000" dirty="0"/>
              <a:t> </a:t>
            </a:r>
            <a:r>
              <a:rPr lang="en-US" sz="2000" dirty="0" err="1"/>
              <a:t>towaru</a:t>
            </a:r>
            <a:r>
              <a:rPr lang="en-US" sz="2000" dirty="0"/>
              <a:t> (Stock-out) </a:t>
            </a:r>
            <a:r>
              <a:rPr lang="en-US" sz="2000" dirty="0" err="1"/>
              <a:t>przez</a:t>
            </a:r>
            <a:r>
              <a:rPr lang="en-US" sz="2000" dirty="0"/>
              <a:t> </a:t>
            </a:r>
            <a:r>
              <a:rPr lang="en-US" sz="2000" dirty="0" err="1"/>
              <a:t>złe</a:t>
            </a:r>
            <a:r>
              <a:rPr lang="en-US" sz="2000" dirty="0"/>
              <a:t> </a:t>
            </a:r>
            <a:r>
              <a:rPr lang="en-US" sz="2000" dirty="0" err="1"/>
              <a:t>prognozy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Przeciążenie</a:t>
            </a:r>
            <a:r>
              <a:rPr lang="en-US" sz="2000" dirty="0"/>
              <a:t> </a:t>
            </a:r>
            <a:r>
              <a:rPr lang="en-US" sz="2000" dirty="0" err="1"/>
              <a:t>działu</a:t>
            </a:r>
            <a:r>
              <a:rPr lang="en-US" sz="2000" dirty="0"/>
              <a:t> BOK (</a:t>
            </a:r>
            <a:r>
              <a:rPr lang="en-US" sz="2000" dirty="0" err="1"/>
              <a:t>Obsługi</a:t>
            </a:r>
            <a:r>
              <a:rPr lang="en-US" sz="2000" dirty="0"/>
              <a:t> </a:t>
            </a:r>
            <a:r>
              <a:rPr lang="en-US" sz="2000" dirty="0" err="1"/>
              <a:t>Klienta</a:t>
            </a:r>
            <a:r>
              <a:rPr lang="en-US" sz="2000" dirty="0"/>
              <a:t>) </a:t>
            </a:r>
            <a:r>
              <a:rPr lang="en-US" sz="2000" dirty="0" err="1"/>
              <a:t>pytaniami</a:t>
            </a:r>
            <a:r>
              <a:rPr lang="en-US" sz="2000" dirty="0"/>
              <a:t> </a:t>
            </a:r>
            <a:r>
              <a:rPr lang="pl-PL" sz="2000" dirty="0"/>
              <a:t>„</a:t>
            </a:r>
            <a:r>
              <a:rPr lang="en-US" sz="2000" dirty="0" err="1"/>
              <a:t>gdzie</a:t>
            </a:r>
            <a:r>
              <a:rPr lang="en-US" sz="2000" dirty="0"/>
              <a:t> jest </a:t>
            </a:r>
            <a:r>
              <a:rPr lang="en-US" sz="2000" dirty="0" err="1"/>
              <a:t>paczka</a:t>
            </a:r>
            <a:r>
              <a:rPr lang="en-US" sz="2000" dirty="0"/>
              <a:t>?</a:t>
            </a:r>
            <a:r>
              <a:rPr lang="pl-PL" sz="2000" dirty="0"/>
              <a:t>”</a:t>
            </a:r>
            <a:r>
              <a:rPr lang="en-US" sz="2000" dirty="0"/>
              <a:t>.</a:t>
            </a: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endParaRPr lang="pl-PL" sz="2000" dirty="0"/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None/>
              <a:defRPr/>
            </a:pPr>
            <a:r>
              <a:rPr lang="pl-PL" sz="2000" dirty="0"/>
              <a:t>Analizowana firma zmagała się z ręcznym przetwarzaniem dokumentów, błędnymi prognozami oraz przeciążeniem pracowników obsługi klienta. Procesy były czasochłonne i podatne na błędy. Stanowiło to istotną barierę rozwoju </a:t>
            </a:r>
            <a:r>
              <a:rPr lang="pl-PL" sz="2000" dirty="0" err="1"/>
              <a:t>organizac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93929DA9-2598-EC69-C4AA-6604CB7F7FC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AF3CBE11-8876-26DC-CC97-13EBAF038FB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D5BBBB5D-DC5F-99F7-82B0-C8469A04BC2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A0A932-D5E8-1DE6-9CB5-5C773E7C367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88F1AB1-727B-42B7-DFA2-9536A69B941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5E6C2AC-FDAF-092F-3090-4E16641E40C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9470" name="Tytuł 1">
            <a:extLst>
              <a:ext uri="{FF2B5EF4-FFF2-40B4-BE49-F238E27FC236}">
                <a16:creationId xmlns:a16="http://schemas.microsoft.com/office/drawing/2014/main" id="{BC9D8486-B583-4D63-3546-5873D76813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3400" b="1">
                <a:solidFill>
                  <a:srgbClr val="FFFFFF"/>
                </a:solidFill>
              </a:rPr>
              <a:t>Zastosowane rozwiązania (Hiperautomatyzacja)</a:t>
            </a:r>
          </a:p>
        </p:txBody>
      </p:sp>
      <p:sp>
        <p:nvSpPr>
          <p:cNvPr id="19471" name="Symbol zastępczy tekstu 2">
            <a:extLst>
              <a:ext uri="{FF2B5EF4-FFF2-40B4-BE49-F238E27FC236}">
                <a16:creationId xmlns:a16="http://schemas.microsoft.com/office/drawing/2014/main" id="{7C4DEF21-B88D-E813-F9A2-7BFB97162F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 dirty="0"/>
              <a:t>1. FINANSE: </a:t>
            </a:r>
            <a:r>
              <a:rPr lang="en-US" altLang="pl-PL" sz="2000" dirty="0" err="1"/>
              <a:t>Wdrożenie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robota</a:t>
            </a:r>
            <a:r>
              <a:rPr lang="en-US" altLang="pl-PL" sz="2000" dirty="0"/>
              <a:t> RPA </a:t>
            </a:r>
            <a:br>
              <a:rPr lang="pl-PL" altLang="pl-PL" sz="2000" dirty="0"/>
            </a:br>
            <a:r>
              <a:rPr lang="en-US" altLang="pl-PL" sz="2000" dirty="0"/>
              <a:t>z </a:t>
            </a:r>
            <a:r>
              <a:rPr lang="en-US" altLang="pl-PL" sz="2000" dirty="0" err="1"/>
              <a:t>silnikiem</a:t>
            </a:r>
            <a:r>
              <a:rPr lang="en-US" altLang="pl-PL" sz="2000" dirty="0"/>
              <a:t> OCR. </a:t>
            </a:r>
            <a:r>
              <a:rPr lang="en-US" altLang="pl-PL" sz="2000" dirty="0" err="1"/>
              <a:t>Faktury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są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czytane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księgowane</a:t>
            </a:r>
            <a:r>
              <a:rPr lang="en-US" altLang="pl-PL" sz="2000" dirty="0"/>
              <a:t> w 30 </a:t>
            </a:r>
            <a:r>
              <a:rPr lang="en-US" altLang="pl-PL" sz="2000" dirty="0" err="1"/>
              <a:t>sekund</a:t>
            </a:r>
            <a:r>
              <a:rPr lang="en-US" altLang="pl-PL" sz="2000" dirty="0"/>
              <a:t>. </a:t>
            </a:r>
            <a:br>
              <a:rPr lang="en-US" altLang="pl-PL" sz="2000" dirty="0"/>
            </a:br>
            <a:br>
              <a:rPr lang="en-US" altLang="pl-PL" sz="2000" dirty="0"/>
            </a:br>
            <a:r>
              <a:rPr lang="en-US" altLang="pl-PL" sz="2000" dirty="0"/>
              <a:t>2. LOGISTYKA: </a:t>
            </a:r>
            <a:r>
              <a:rPr lang="en-US" altLang="pl-PL" sz="2000" dirty="0" err="1"/>
              <a:t>Moduł</a:t>
            </a:r>
            <a:r>
              <a:rPr lang="en-US" altLang="pl-PL" sz="2000" dirty="0"/>
              <a:t> AI do </a:t>
            </a:r>
            <a:r>
              <a:rPr lang="en-US" altLang="pl-PL" sz="2000" dirty="0" err="1"/>
              <a:t>predykcji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popytu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zintegrowany</a:t>
            </a:r>
            <a:r>
              <a:rPr lang="en-US" altLang="pl-PL" sz="2000" dirty="0"/>
              <a:t> z ERP.</a:t>
            </a:r>
            <a:br>
              <a:rPr lang="en-US" altLang="pl-PL" sz="2000" dirty="0"/>
            </a:br>
            <a:br>
              <a:rPr lang="en-US" altLang="pl-PL" sz="2000" dirty="0"/>
            </a:br>
            <a:r>
              <a:rPr lang="en-US" altLang="pl-PL" sz="2000" dirty="0"/>
              <a:t>3. OBSŁUGA: Chatbot AI (</a:t>
            </a:r>
            <a:r>
              <a:rPr lang="en-US" altLang="pl-PL" sz="2000" dirty="0" err="1"/>
              <a:t>Voicebot</a:t>
            </a:r>
            <a:r>
              <a:rPr lang="en-US" altLang="pl-PL" sz="2000" dirty="0"/>
              <a:t>) </a:t>
            </a:r>
            <a:r>
              <a:rPr lang="en-US" altLang="pl-PL" sz="2000" dirty="0" err="1"/>
              <a:t>odbierający</a:t>
            </a:r>
            <a:r>
              <a:rPr lang="en-US" altLang="pl-PL" sz="2000" dirty="0"/>
              <a:t> 80% </a:t>
            </a:r>
            <a:r>
              <a:rPr lang="en-US" altLang="pl-PL" sz="2000" dirty="0" err="1"/>
              <a:t>telefonów</a:t>
            </a:r>
            <a:r>
              <a:rPr lang="en-US" altLang="pl-PL" sz="2000" dirty="0"/>
              <a:t> o status </a:t>
            </a:r>
            <a:r>
              <a:rPr lang="en-US" altLang="pl-PL" sz="2000" dirty="0" err="1"/>
              <a:t>przesyłki</a:t>
            </a:r>
            <a:r>
              <a:rPr lang="en-US" altLang="pl-PL" sz="2000" dirty="0"/>
              <a:t>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br>
              <a:rPr lang="pl-PL" altLang="pl-PL" sz="2000" dirty="0"/>
            </a:br>
            <a:r>
              <a:rPr lang="pl-PL" sz="2000" dirty="0"/>
              <a:t>Wdrożenie obejmowało automatyzację procesów finansowych, predykcję popytu oraz wykorzystanie </a:t>
            </a:r>
            <a:r>
              <a:rPr lang="pl-PL" sz="2000" dirty="0" err="1"/>
              <a:t>chatbotów</a:t>
            </a:r>
            <a:r>
              <a:rPr lang="pl-PL" sz="2000" dirty="0"/>
              <a:t>. Połączenie kilku technologii pozwoliło uzyskać efekt synergii. Rozwiązania zostały zintegrowane z istniejącym systemem ERP.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20AE4A69-9976-3977-6730-B72F5BEC835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3BC1AB7E-58B1-79D2-BE54-1C7AF0E0497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BF0DC0A4-E92A-E099-DBC8-BF20A66B02B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B23BF70-9BD7-8F73-DE77-087B14FFCA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6508A9-EB75-4A54-5764-1EEDE0EF73E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7343997-6E89-7D86-3DBF-04762A4D840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0494" name="Tytuł 1">
            <a:extLst>
              <a:ext uri="{FF2B5EF4-FFF2-40B4-BE49-F238E27FC236}">
                <a16:creationId xmlns:a16="http://schemas.microsoft.com/office/drawing/2014/main" id="{B50BE24B-DAF3-78B3-D72B-9F3501809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Osiągnięte rezultaty</a:t>
            </a:r>
          </a:p>
        </p:txBody>
      </p:sp>
      <p:sp>
        <p:nvSpPr>
          <p:cNvPr id="20495" name="Symbol zastępczy tekstu 2">
            <a:extLst>
              <a:ext uri="{FF2B5EF4-FFF2-40B4-BE49-F238E27FC236}">
                <a16:creationId xmlns:a16="http://schemas.microsoft.com/office/drawing/2014/main" id="{2B967BC6-A6E1-3147-474A-F55EDD8996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Skrócenie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czasu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procesowania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faktur</a:t>
            </a:r>
            <a:r>
              <a:rPr lang="en-US" altLang="pl-PL" sz="2000" dirty="0"/>
              <a:t> </a:t>
            </a:r>
            <a:br>
              <a:rPr lang="pl-PL" altLang="pl-PL" sz="2000" dirty="0"/>
            </a:br>
            <a:r>
              <a:rPr lang="en-US" altLang="pl-PL" sz="2000" dirty="0"/>
              <a:t>o 90%.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Redukcja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stanów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magazynowych</a:t>
            </a:r>
            <a:r>
              <a:rPr lang="en-US" altLang="pl-PL" sz="2000" dirty="0"/>
              <a:t> o 15% (</a:t>
            </a:r>
            <a:r>
              <a:rPr lang="en-US" altLang="pl-PL" sz="2000" dirty="0" err="1"/>
              <a:t>dzięki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lepszym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prognozom</a:t>
            </a:r>
            <a:r>
              <a:rPr lang="en-US" altLang="pl-PL" sz="2000" dirty="0"/>
              <a:t>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Wzrost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satysfakcji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klientów</a:t>
            </a:r>
            <a:r>
              <a:rPr lang="en-US" altLang="pl-PL" sz="2000" dirty="0"/>
              <a:t> (NPS) o 20 </a:t>
            </a:r>
            <a:r>
              <a:rPr lang="en-US" altLang="pl-PL" sz="2000" dirty="0" err="1"/>
              <a:t>punktów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Zwrot</a:t>
            </a:r>
            <a:r>
              <a:rPr lang="en-US" altLang="pl-PL" sz="2000" dirty="0"/>
              <a:t> z </a:t>
            </a:r>
            <a:r>
              <a:rPr lang="en-US" altLang="pl-PL" sz="2000" dirty="0" err="1"/>
              <a:t>inwestycji</a:t>
            </a:r>
            <a:r>
              <a:rPr lang="en-US" altLang="pl-PL" sz="2000" dirty="0"/>
              <a:t> (ROI) w </a:t>
            </a:r>
            <a:r>
              <a:rPr lang="en-US" altLang="pl-PL" sz="2000" dirty="0" err="1"/>
              <a:t>ciągu</a:t>
            </a:r>
            <a:r>
              <a:rPr lang="en-US" altLang="pl-PL" sz="2000" dirty="0"/>
              <a:t> 9 </a:t>
            </a:r>
            <a:r>
              <a:rPr lang="en-US" altLang="pl-PL" sz="2000" dirty="0" err="1"/>
              <a:t>miesięcy</a:t>
            </a:r>
            <a:r>
              <a:rPr lang="en-US" altLang="pl-PL" sz="2000" dirty="0"/>
              <a:t>.</a:t>
            </a:r>
            <a:endParaRPr lang="pl-PL" altLang="pl-PL" sz="20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Wyniki pokazują typowy efekt </a:t>
            </a:r>
            <a:r>
              <a:rPr lang="pl-PL" sz="2000" dirty="0" err="1"/>
              <a:t>hiperautomatyzacji</a:t>
            </a:r>
            <a:r>
              <a:rPr lang="pl-PL" sz="2000" dirty="0"/>
              <a:t>: skrócenie czasu procesów, poprawę prognozowania i jakości obsługi oraz mierzalny ROI. Kluczowe jest połączenie kilku technologii (</a:t>
            </a:r>
            <a:r>
              <a:rPr lang="pl-PL" sz="2000" dirty="0" err="1"/>
              <a:t>RPA+AI+chatbot</a:t>
            </a:r>
            <a:r>
              <a:rPr lang="pl-PL" sz="2000" dirty="0"/>
              <a:t>), a nie wdrożenie jednego narzędzia w izolacji.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53CEB846-1C28-A9F9-3C04-430157D0F11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59DEC974-1332-E26B-097A-073BC7B1E22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544C8CD7-0CF0-9A9C-4177-B9557EDAE0E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90BE49-1176-4020-BCA8-B4B6F5D54DC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08A9A5-559A-5886-F77A-9E9B6408C67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ACC9AC6-CABA-9352-0EE5-4C980ECA572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1518" name="Tytuł 1">
            <a:extLst>
              <a:ext uri="{FF2B5EF4-FFF2-40B4-BE49-F238E27FC236}">
                <a16:creationId xmlns:a16="http://schemas.microsoft.com/office/drawing/2014/main" id="{D4443749-8F92-5BD6-0AA9-F79D4650D1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Jak zacząć? Strategia wdrożenia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D9D8FE25-78E3-6A10-0371-58D2178173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/>
          </a:bodyPr>
          <a:lstStyle/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1. KROK 1: Discovery (</a:t>
            </a:r>
            <a:r>
              <a:rPr lang="en-US" sz="2000" dirty="0" err="1"/>
              <a:t>Odkrywanie</a:t>
            </a:r>
            <a:r>
              <a:rPr lang="en-US" sz="2000" dirty="0"/>
              <a:t>).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Użycie</a:t>
            </a:r>
            <a:r>
              <a:rPr lang="en-US" sz="2000" dirty="0"/>
              <a:t> Process Mining do </a:t>
            </a:r>
            <a:r>
              <a:rPr lang="en-US" sz="2000" dirty="0" err="1"/>
              <a:t>znalezienia</a:t>
            </a:r>
            <a:r>
              <a:rPr lang="en-US" sz="2000" dirty="0"/>
              <a:t> </a:t>
            </a:r>
            <a:r>
              <a:rPr lang="en-US" sz="2000" dirty="0" err="1"/>
              <a:t>procesów</a:t>
            </a:r>
            <a:r>
              <a:rPr lang="en-US" sz="2000" dirty="0"/>
              <a:t>, </a:t>
            </a:r>
            <a:r>
              <a:rPr lang="en-US" sz="2000" dirty="0" err="1"/>
              <a:t>które</a:t>
            </a:r>
            <a:r>
              <a:rPr lang="en-US" sz="2000" dirty="0"/>
              <a:t> </a:t>
            </a:r>
            <a:r>
              <a:rPr lang="en-US" sz="2000" dirty="0" err="1"/>
              <a:t>są</a:t>
            </a:r>
            <a:r>
              <a:rPr lang="en-US" sz="2000" dirty="0"/>
              <a:t> </a:t>
            </a:r>
            <a:r>
              <a:rPr lang="en-US" sz="2000" dirty="0" err="1"/>
              <a:t>wąskim</a:t>
            </a:r>
            <a:r>
              <a:rPr lang="en-US" sz="2000" dirty="0"/>
              <a:t> </a:t>
            </a:r>
            <a:r>
              <a:rPr lang="en-US" sz="2000" dirty="0" err="1"/>
              <a:t>gardłem</a:t>
            </a:r>
            <a:r>
              <a:rPr lang="en-US" sz="2000" dirty="0"/>
              <a:t>.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2. KROK 2: Analiza </a:t>
            </a:r>
            <a:r>
              <a:rPr lang="en-US" sz="2000" dirty="0" err="1"/>
              <a:t>opłacalności</a:t>
            </a:r>
            <a:r>
              <a:rPr lang="en-US" sz="2000" dirty="0"/>
              <a:t>.</a:t>
            </a:r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Wybieramy</a:t>
            </a:r>
            <a:r>
              <a:rPr lang="en-US" sz="2000" dirty="0"/>
              <a:t> </a:t>
            </a:r>
            <a:r>
              <a:rPr lang="en-US" sz="2000" dirty="0" err="1"/>
              <a:t>procesy</a:t>
            </a:r>
            <a:r>
              <a:rPr lang="en-US" sz="2000" dirty="0"/>
              <a:t> o </a:t>
            </a:r>
            <a:r>
              <a:rPr lang="en-US" sz="2000" dirty="0" err="1"/>
              <a:t>dużym</a:t>
            </a:r>
            <a:r>
              <a:rPr lang="en-US" sz="2000" dirty="0"/>
              <a:t> </a:t>
            </a:r>
            <a:r>
              <a:rPr lang="en-US" sz="2000" dirty="0" err="1"/>
              <a:t>wolumenie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niskiej</a:t>
            </a:r>
            <a:r>
              <a:rPr lang="en-US" sz="2000" dirty="0"/>
              <a:t> </a:t>
            </a:r>
            <a:r>
              <a:rPr lang="en-US" sz="2000" dirty="0" err="1"/>
              <a:t>zmienności</a:t>
            </a:r>
            <a:r>
              <a:rPr lang="en-US" sz="2000" dirty="0"/>
              <a:t> (</a:t>
            </a:r>
            <a:r>
              <a:rPr lang="en-US" sz="2000" dirty="0" err="1"/>
              <a:t>tzw</a:t>
            </a:r>
            <a:r>
              <a:rPr lang="en-US" sz="2000" dirty="0"/>
              <a:t>. </a:t>
            </a:r>
            <a:r>
              <a:rPr lang="pl-PL" sz="2000" dirty="0"/>
              <a:t>„</a:t>
            </a:r>
            <a:r>
              <a:rPr lang="en-US" sz="2000" dirty="0"/>
              <a:t>Low Hanging Fruits</a:t>
            </a:r>
            <a:r>
              <a:rPr lang="pl-PL" sz="2000" dirty="0"/>
              <a:t>”</a:t>
            </a:r>
            <a:r>
              <a:rPr lang="en-US" sz="2000" dirty="0"/>
              <a:t>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853C39BC-3F06-8967-78B8-9BEA65DF141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A614F5BD-E6B8-5C74-6DDC-BDD1663CAB3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9548F2FC-0EAC-AAA3-964E-FA1F4C7CC09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72A994-20A4-02FD-8B4E-3F251381920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55E905-F553-2EB2-941B-AAD408D8944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D84E08-C489-F98B-24A1-3A427BF4D7E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542" name="Tytuł 1">
            <a:extLst>
              <a:ext uri="{FF2B5EF4-FFF2-40B4-BE49-F238E27FC236}">
                <a16:creationId xmlns:a16="http://schemas.microsoft.com/office/drawing/2014/main" id="{2E91A095-F773-95B6-39A0-A1B78D372D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Centrum Doskonałości (CoE)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7435AA7B-8217-E5EC-3ADA-19CB8C0C6F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rtlCol="0" anchor="ctr">
            <a:normAutofit/>
          </a:bodyPr>
          <a:lstStyle/>
          <a:p>
            <a:pPr marL="0"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/>
              <a:t>Aby </a:t>
            </a:r>
            <a:r>
              <a:rPr lang="en-US" sz="2000" dirty="0" err="1"/>
              <a:t>uniknąć</a:t>
            </a:r>
            <a:r>
              <a:rPr lang="en-US" sz="2000" dirty="0"/>
              <a:t> </a:t>
            </a:r>
            <a:r>
              <a:rPr lang="en-US" sz="2000" dirty="0" err="1"/>
              <a:t>chaosu</a:t>
            </a:r>
            <a:r>
              <a:rPr lang="en-US" sz="2000" dirty="0"/>
              <a:t>, </a:t>
            </a:r>
            <a:r>
              <a:rPr lang="en-US" sz="2000" dirty="0" err="1"/>
              <a:t>firmy</a:t>
            </a:r>
            <a:r>
              <a:rPr lang="en-US" sz="2000" dirty="0"/>
              <a:t> </a:t>
            </a:r>
            <a:r>
              <a:rPr lang="en-US" sz="2000" dirty="0" err="1"/>
              <a:t>powołują</a:t>
            </a:r>
            <a:r>
              <a:rPr lang="en-US" sz="2000" dirty="0"/>
              <a:t> Center of Excellence (</a:t>
            </a:r>
            <a:r>
              <a:rPr lang="en-US" sz="2000" dirty="0" err="1"/>
              <a:t>CoE</a:t>
            </a:r>
            <a:r>
              <a:rPr lang="en-US" sz="2000" dirty="0"/>
              <a:t>).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SKŁAD ZESPOŁU:</a:t>
            </a:r>
          </a:p>
          <a:p>
            <a:pPr marL="0" indent="0" fontAlgn="auto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  <a:defRPr/>
            </a:pPr>
            <a:r>
              <a:rPr lang="en-US" sz="2000" dirty="0"/>
              <a:t>1. </a:t>
            </a:r>
            <a:r>
              <a:rPr lang="en-US" sz="2000" dirty="0" err="1"/>
              <a:t>Deweloperzy</a:t>
            </a:r>
            <a:r>
              <a:rPr lang="en-US" sz="2000" dirty="0"/>
              <a:t> RPA/AI (</a:t>
            </a:r>
            <a:r>
              <a:rPr lang="en-US" sz="2000" dirty="0" err="1"/>
              <a:t>Technologia</a:t>
            </a:r>
            <a:r>
              <a:rPr lang="en-US" sz="2000" dirty="0"/>
              <a:t>).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2. </a:t>
            </a:r>
            <a:r>
              <a:rPr lang="en-US" sz="2000" dirty="0" err="1"/>
              <a:t>Właściciele</a:t>
            </a:r>
            <a:r>
              <a:rPr lang="en-US" sz="2000" dirty="0"/>
              <a:t> </a:t>
            </a:r>
            <a:r>
              <a:rPr lang="en-US" sz="2000" dirty="0" err="1"/>
              <a:t>Procesów</a:t>
            </a:r>
            <a:r>
              <a:rPr lang="en-US" sz="2000" dirty="0"/>
              <a:t> </a:t>
            </a:r>
            <a:r>
              <a:rPr lang="en-US" sz="2000" dirty="0" err="1"/>
              <a:t>Biznesowych</a:t>
            </a:r>
            <a:r>
              <a:rPr lang="en-US" sz="2000" dirty="0"/>
              <a:t> (</a:t>
            </a:r>
            <a:r>
              <a:rPr lang="en-US" sz="2000" dirty="0" err="1"/>
              <a:t>Wiedza</a:t>
            </a:r>
            <a:r>
              <a:rPr lang="en-US" sz="2000" dirty="0"/>
              <a:t> </a:t>
            </a:r>
            <a:r>
              <a:rPr lang="en-US" sz="2000" dirty="0" err="1"/>
              <a:t>merytoryczna</a:t>
            </a:r>
            <a:r>
              <a:rPr lang="en-US" sz="2000" dirty="0"/>
              <a:t>).</a:t>
            </a:r>
            <a:br>
              <a:rPr lang="en-US" sz="2000" dirty="0"/>
            </a:br>
            <a:br>
              <a:rPr lang="en-US" sz="2000" dirty="0"/>
            </a:br>
            <a:r>
              <a:rPr lang="en-US" sz="2000" dirty="0"/>
              <a:t>3. IT Security (</a:t>
            </a:r>
            <a:r>
              <a:rPr lang="en-US" sz="2000" dirty="0" err="1"/>
              <a:t>Bezpieczeństwo</a:t>
            </a:r>
            <a:r>
              <a:rPr lang="en-US" sz="2000" dirty="0"/>
              <a:t>).</a:t>
            </a:r>
            <a:br>
              <a:rPr lang="en-US" sz="2000" dirty="0"/>
            </a:br>
            <a:endParaRPr lang="en-US" sz="2000" dirty="0"/>
          </a:p>
          <a:p>
            <a:pPr fontAlgn="auto">
              <a:spcBef>
                <a:spcPts val="500"/>
              </a:spcBef>
              <a:spcAft>
                <a:spcPts val="500"/>
              </a:spcAft>
              <a:defRPr/>
            </a:pPr>
            <a:r>
              <a:rPr lang="en-US" sz="2000" dirty="0" err="1"/>
              <a:t>CoE</a:t>
            </a:r>
            <a:r>
              <a:rPr lang="en-US" sz="2000" dirty="0"/>
              <a:t> dba o </a:t>
            </a:r>
            <a:r>
              <a:rPr lang="en-US" sz="2000" dirty="0" err="1"/>
              <a:t>standardy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utrzymanie</a:t>
            </a:r>
            <a:r>
              <a:rPr lang="en-US" sz="2000" dirty="0"/>
              <a:t> </a:t>
            </a:r>
            <a:r>
              <a:rPr lang="en-US" sz="2000" dirty="0" err="1"/>
              <a:t>robotów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DAA523FB-A1FF-C0D4-908E-C6951A2DDD7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73D32B58-6DF2-1190-2F91-196B0A333CF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69D39A19-A9C5-173F-BCEF-6B7CC1BE6BC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E2F4B5-DD05-78C7-DEF0-8FBA5310259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F62F561-BA03-0637-2976-068FE6081B3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3118939-0E95-B0C4-FCDF-7C9A41D6B2F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3566" name="Tytuł 1">
            <a:extLst>
              <a:ext uri="{FF2B5EF4-FFF2-40B4-BE49-F238E27FC236}">
                <a16:creationId xmlns:a16="http://schemas.microsoft.com/office/drawing/2014/main" id="{3B1AC156-225A-EC8F-6C05-121CE985E9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Zarządzanie Zmianą (Change Management)</a:t>
            </a:r>
          </a:p>
        </p:txBody>
      </p:sp>
      <p:sp>
        <p:nvSpPr>
          <p:cNvPr id="23567" name="Symbol zastępczy tekstu 2">
            <a:extLst>
              <a:ext uri="{FF2B5EF4-FFF2-40B4-BE49-F238E27FC236}">
                <a16:creationId xmlns:a16="http://schemas.microsoft.com/office/drawing/2014/main" id="{5F17E6E7-126E-57A7-2717-DCC51C0E3B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NAJWIĘKSZA BARIERA: </a:t>
            </a:r>
            <a:r>
              <a:rPr lang="en-US" altLang="pl-PL" sz="2000" dirty="0" err="1"/>
              <a:t>Opór</a:t>
            </a:r>
            <a:r>
              <a:rPr lang="en-US" altLang="pl-PL" sz="2000" dirty="0"/>
              <a:t> </a:t>
            </a:r>
            <a:r>
              <a:rPr lang="en-US" altLang="pl-PL" sz="2000" dirty="0" err="1"/>
              <a:t>ludzi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Mit: </a:t>
            </a:r>
            <a:r>
              <a:rPr lang="pl-PL" altLang="pl-PL" sz="2000" dirty="0"/>
              <a:t>„</a:t>
            </a:r>
            <a:r>
              <a:rPr lang="en-US" altLang="pl-PL" sz="2000" dirty="0"/>
              <a:t>Robot </a:t>
            </a:r>
            <a:r>
              <a:rPr lang="en-US" altLang="pl-PL" sz="2000" dirty="0" err="1"/>
              <a:t>zabierze</a:t>
            </a:r>
            <a:r>
              <a:rPr lang="en-US" altLang="pl-PL" sz="2000" dirty="0"/>
              <a:t> mi </a:t>
            </a:r>
            <a:r>
              <a:rPr lang="en-US" altLang="pl-PL" sz="2000" dirty="0" err="1"/>
              <a:t>pracę</a:t>
            </a:r>
            <a:r>
              <a:rPr lang="pl-PL" altLang="pl-PL" sz="2000" dirty="0"/>
              <a:t>”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Rzeczywistość</a:t>
            </a:r>
            <a:r>
              <a:rPr lang="en-US" altLang="pl-PL" sz="2000" dirty="0"/>
              <a:t>: </a:t>
            </a:r>
            <a:r>
              <a:rPr lang="pl-PL" altLang="pl-PL" sz="2000" dirty="0"/>
              <a:t>“</a:t>
            </a:r>
            <a:r>
              <a:rPr lang="en-US" altLang="pl-PL" sz="2000" dirty="0"/>
              <a:t>Robot </a:t>
            </a:r>
            <a:r>
              <a:rPr lang="en-US" altLang="pl-PL" sz="2000" dirty="0" err="1"/>
              <a:t>zabierze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nudną</a:t>
            </a:r>
            <a:r>
              <a:rPr lang="en-US" altLang="pl-PL" sz="2000" dirty="0"/>
              <a:t> </a:t>
            </a:r>
            <a:r>
              <a:rPr lang="en-US" altLang="pl-PL" sz="2000" dirty="0" err="1"/>
              <a:t>część</a:t>
            </a:r>
            <a:r>
              <a:rPr lang="en-US" altLang="pl-PL" sz="2000" dirty="0"/>
              <a:t> </a:t>
            </a:r>
            <a:r>
              <a:rPr lang="en-US" altLang="pl-PL" sz="2000" dirty="0" err="1"/>
              <a:t>twojej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prac</a:t>
            </a:r>
            <a:r>
              <a:rPr lang="pl-PL" altLang="pl-PL" sz="2000" dirty="0"/>
              <a:t>y”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Kluczowe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działanie</a:t>
            </a:r>
            <a:r>
              <a:rPr lang="en-US" altLang="pl-PL" sz="2000" dirty="0"/>
              <a:t>: Reskilling </a:t>
            </a:r>
            <a:br>
              <a:rPr lang="pl-PL" altLang="pl-PL" sz="2000" dirty="0"/>
            </a:br>
            <a:r>
              <a:rPr lang="en-US" altLang="pl-PL" sz="2000" dirty="0" err="1"/>
              <a:t>i</a:t>
            </a:r>
            <a:r>
              <a:rPr lang="en-US" altLang="pl-PL" sz="2000" dirty="0"/>
              <a:t> Upskilling - </a:t>
            </a:r>
            <a:r>
              <a:rPr lang="en-US" altLang="pl-PL" sz="2000" dirty="0" err="1"/>
              <a:t>szkolenie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pracowników</a:t>
            </a:r>
            <a:r>
              <a:rPr lang="en-US" altLang="pl-PL" sz="2000" dirty="0"/>
              <a:t> do </a:t>
            </a:r>
            <a:r>
              <a:rPr lang="en-US" altLang="pl-PL" sz="2000" dirty="0" err="1"/>
              <a:t>nowych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ról</a:t>
            </a:r>
            <a:r>
              <a:rPr lang="en-US" altLang="pl-PL" sz="2000" dirty="0"/>
              <a:t> (np. </a:t>
            </a:r>
            <a:r>
              <a:rPr lang="en-US" altLang="pl-PL" sz="2000" dirty="0" err="1"/>
              <a:t>Nadzorca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Robotów</a:t>
            </a:r>
            <a:r>
              <a:rPr lang="en-US" altLang="pl-PL" sz="2000" dirty="0"/>
              <a:t>).</a:t>
            </a:r>
            <a:endParaRPr lang="pl-PL" altLang="pl-PL" sz="20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Najczęstsze bariery wdrożenia są organizacyjne, nie techniczne. Dlatego obok narzędzi potrzebne są: komunikacja, szkolenia (</a:t>
            </a:r>
            <a:r>
              <a:rPr lang="pl-PL" sz="2000" dirty="0" err="1"/>
              <a:t>reskilling</a:t>
            </a:r>
            <a:r>
              <a:rPr lang="pl-PL" sz="2000" dirty="0"/>
              <a:t>/</a:t>
            </a:r>
            <a:r>
              <a:rPr lang="pl-PL" sz="2000" dirty="0" err="1"/>
              <a:t>upskilling</a:t>
            </a:r>
            <a:r>
              <a:rPr lang="pl-PL" sz="2000" dirty="0"/>
              <a:t>) i jasne role. Pracownicy przechodzą z wykonywania rutyn do nadzorowania i doskonalenia procesów.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A1064828-19AA-A469-5883-09F0FDDF9A8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2900826F-8F2E-EB7B-EB20-093C08FA779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8F966D33-5009-4226-FF50-94C62E16FDE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54F950-9058-9BF5-C294-36B1EBDE186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51E6DE1-C607-AEC1-D196-79A613F2790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84362F0-482D-45CE-4A53-1904684B06F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4590" name="Tytuł 1">
            <a:extLst>
              <a:ext uri="{FF2B5EF4-FFF2-40B4-BE49-F238E27FC236}">
                <a16:creationId xmlns:a16="http://schemas.microsoft.com/office/drawing/2014/main" id="{F0C13A7C-02F7-F5F9-298E-C2A190165D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Twarde korzyści biznesowe (Hard KPIs)</a:t>
            </a:r>
          </a:p>
        </p:txBody>
      </p:sp>
      <p:sp>
        <p:nvSpPr>
          <p:cNvPr id="24591" name="Symbol zastępczy tekstu 2">
            <a:extLst>
              <a:ext uri="{FF2B5EF4-FFF2-40B4-BE49-F238E27FC236}">
                <a16:creationId xmlns:a16="http://schemas.microsoft.com/office/drawing/2014/main" id="{B404D010-678C-BD8C-964E-8006E8DE36E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Oszczędność czasu (FTE Saving): Przeliczalna na etaty.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Redukcja błędów do 0% (w procesach deterministycznych).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Skalowalność: Możliwość </a:t>
            </a:r>
            <a:r>
              <a:rPr lang="pl-PL" altLang="pl-PL" sz="2000"/>
              <a:t>„</a:t>
            </a:r>
            <a:r>
              <a:rPr lang="en-US" altLang="pl-PL" sz="2000"/>
              <a:t>zatrudnienia</a:t>
            </a:r>
            <a:r>
              <a:rPr lang="pl-PL" altLang="pl-PL" sz="2000"/>
              <a:t>”</a:t>
            </a:r>
            <a:r>
              <a:rPr lang="en-US" altLang="pl-PL" sz="2000"/>
              <a:t> 50 robotów na jeden dzień w szczycie sezonu (Black Friday).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Zgodność (Compliance): Każdy ruch robota jest logowany (idealne dla audytu).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2591A594-5074-F655-44F6-11B162F2F09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B3838A05-AC39-AECC-06DB-462723E81F2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9F1F5F70-D22A-EA08-E89F-DCC8909B52C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D0FC98-F11D-CE09-24A6-D8567855059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7AA76A-5289-A9D1-457D-07346C73E6D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A213F66-705C-4AA1-7A05-F86428E8970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5614" name="Tytuł 1">
            <a:extLst>
              <a:ext uri="{FF2B5EF4-FFF2-40B4-BE49-F238E27FC236}">
                <a16:creationId xmlns:a16="http://schemas.microsoft.com/office/drawing/2014/main" id="{681BE849-50A0-F4F5-E534-D774FF610D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Miękkie korzyści (Soft KPIs)</a:t>
            </a:r>
          </a:p>
        </p:txBody>
      </p:sp>
      <p:sp>
        <p:nvSpPr>
          <p:cNvPr id="25615" name="Symbol zastępczy tekstu 2">
            <a:extLst>
              <a:ext uri="{FF2B5EF4-FFF2-40B4-BE49-F238E27FC236}">
                <a16:creationId xmlns:a16="http://schemas.microsoft.com/office/drawing/2014/main" id="{C38E686F-999C-BE7E-6E91-A5CEC609E4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Employee Experience: Wzrost zaangażowania pracowników uwolnionych od kopiowania danych w Excelu.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Szybkość reakcji biznesowej (Agility).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Innowacyjność: Zespół ma czas na myślenie koncepcyjne.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Nowoczesny wizerunek firmy.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07E5EBB5-C2C0-BB1E-697B-FFC1B1B0E6D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2A73348D-482D-BF44-3433-456A27E5E62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E2090390-2640-A6EB-C5CD-A17948B2170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26E8F34-C1A2-0508-C9F1-12171E7F92B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C6575D-BD57-B23E-86FD-0EB21FB0A4A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10DDAF-89B8-A85B-F52E-6A62593D7497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6638" name="Tytuł 1">
            <a:extLst>
              <a:ext uri="{FF2B5EF4-FFF2-40B4-BE49-F238E27FC236}">
                <a16:creationId xmlns:a16="http://schemas.microsoft.com/office/drawing/2014/main" id="{9B1F1C5E-3FBC-DE10-5ABC-ADDF1FB97A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Struktura kosztów (TCO)</a:t>
            </a:r>
          </a:p>
        </p:txBody>
      </p:sp>
      <p:sp>
        <p:nvSpPr>
          <p:cNvPr id="26639" name="Symbol zastępczy tekstu 2">
            <a:extLst>
              <a:ext uri="{FF2B5EF4-FFF2-40B4-BE49-F238E27FC236}">
                <a16:creationId xmlns:a16="http://schemas.microsoft.com/office/drawing/2014/main" id="{01A26308-28F7-487E-105C-F653495706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Licencje oprogramowania (często model subskrypcyjny).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Infrastruktura (chmura Azure/AWS/Google).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Koszty wdrożenia (konsulting).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Utrzymanie (Maintenance): Roboty trzeba naprawiać, gdy zmieniają się interfejsy aplikacji.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1C9FD0-E257-43A6-FFAD-149F3B638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2FDC4651-6321-B8A9-61C2-088078423FF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80EB9FA6-3B65-4F77-0452-A69068E78340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9A803688-99C2-C3F0-0D82-B327EFFA476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CEF2F94-6024-4573-FE22-F1708189931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49D4A8-C6DD-CD3A-93E4-0EFE102C72B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8A80D59-3DAC-48A6-0CF9-CA17A57BF08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6638" name="Tytuł 1">
            <a:extLst>
              <a:ext uri="{FF2B5EF4-FFF2-40B4-BE49-F238E27FC236}">
                <a16:creationId xmlns:a16="http://schemas.microsoft.com/office/drawing/2014/main" id="{662D15A9-CAFA-8B56-24A5-4CC55FFABA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pl-PL" altLang="pl-PL" sz="4000" b="1" dirty="0">
                <a:solidFill>
                  <a:srgbClr val="FFFFFF"/>
                </a:solidFill>
              </a:rPr>
              <a:t>Korzyści, koszty i wyzwania</a:t>
            </a:r>
            <a:endParaRPr lang="en-US" altLang="pl-PL" sz="4000" b="1" dirty="0">
              <a:solidFill>
                <a:srgbClr val="FFFFFF"/>
              </a:solidFill>
            </a:endParaRPr>
          </a:p>
        </p:txBody>
      </p:sp>
      <p:sp>
        <p:nvSpPr>
          <p:cNvPr id="26639" name="Symbol zastępczy tekstu 2">
            <a:extLst>
              <a:ext uri="{FF2B5EF4-FFF2-40B4-BE49-F238E27FC236}">
                <a16:creationId xmlns:a16="http://schemas.microsoft.com/office/drawing/2014/main" id="{F5DDCDD9-243B-74BD-DD0B-EA2E0A545D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Korzyści z </a:t>
            </a:r>
            <a:r>
              <a:rPr lang="pl-PL" sz="2000" dirty="0" err="1"/>
              <a:t>hiperautomatyzacji</a:t>
            </a:r>
            <a:r>
              <a:rPr lang="pl-PL" sz="2000" dirty="0"/>
              <a:t> obejmują zarówno mierzalne oszczędności, jak i poprawę kultury organizacyjnej. Jednocześnie organizacje muszą mierzyć się z wyzwaniami związanymi z jakością danych, bezpieczeństwem oraz etyką AI. Odpowiednie przygotowanie minimalizuje te ryzyka.</a:t>
            </a:r>
            <a:endParaRPr lang="en-US" altLang="pl-PL" sz="2000" dirty="0"/>
          </a:p>
        </p:txBody>
      </p:sp>
    </p:spTree>
    <p:extLst>
      <p:ext uri="{BB962C8B-B14F-4D97-AF65-F5344CB8AC3E}">
        <p14:creationId xmlns:p14="http://schemas.microsoft.com/office/powerpoint/2010/main" val="4103072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A36D795C-9C88-1A37-4C26-CF3E1ACD963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C2D429B9-F8FF-B995-DBD2-2F787E61600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1C41D04A-3FDD-EC35-B958-732AFC9982B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EE50EAA-D0A2-ED12-FA42-B12F1A0D16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DFBAAF-2604-6C59-160F-1340605722A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EFB2FCA-2AB4-A9A4-F4FA-DAEA0FBD6C8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7662" name="Tytuł 1">
            <a:extLst>
              <a:ext uri="{FF2B5EF4-FFF2-40B4-BE49-F238E27FC236}">
                <a16:creationId xmlns:a16="http://schemas.microsoft.com/office/drawing/2014/main" id="{EBC03553-F0DC-B63C-BF85-EE319891CC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Wyzwanie 1: Jakość Danych</a:t>
            </a:r>
          </a:p>
        </p:txBody>
      </p:sp>
      <p:sp>
        <p:nvSpPr>
          <p:cNvPr id="27663" name="Symbol zastępczy tekstu 2">
            <a:extLst>
              <a:ext uri="{FF2B5EF4-FFF2-40B4-BE49-F238E27FC236}">
                <a16:creationId xmlns:a16="http://schemas.microsoft.com/office/drawing/2014/main" id="{5B932328-D19F-A82C-C3DF-6125D219E1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Garbage In, Garbage Out: </a:t>
            </a:r>
            <a:r>
              <a:rPr lang="en-US" altLang="pl-PL" sz="2000" dirty="0" err="1"/>
              <a:t>Najlepsze</a:t>
            </a:r>
            <a:r>
              <a:rPr lang="en-US" altLang="pl-PL" sz="2000" dirty="0"/>
              <a:t> AI </a:t>
            </a:r>
            <a:r>
              <a:rPr lang="en-US" altLang="pl-PL" sz="2000" dirty="0" err="1"/>
              <a:t>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zadziała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na</a:t>
            </a:r>
            <a:r>
              <a:rPr lang="en-US" altLang="pl-PL" sz="2000" dirty="0"/>
              <a:t> </a:t>
            </a:r>
            <a:r>
              <a:rPr lang="en-US" altLang="pl-PL" sz="2000" dirty="0" err="1"/>
              <a:t>śmieciowych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danych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/>
              <a:t>Problem </a:t>
            </a:r>
            <a:r>
              <a:rPr lang="en-US" altLang="pl-PL" sz="2000" dirty="0" err="1"/>
              <a:t>silosów</a:t>
            </a:r>
            <a:r>
              <a:rPr lang="en-US" altLang="pl-PL" sz="2000" dirty="0"/>
              <a:t> </a:t>
            </a:r>
            <a:r>
              <a:rPr lang="en-US" altLang="pl-PL" sz="2000" dirty="0" err="1"/>
              <a:t>danych</a:t>
            </a:r>
            <a:r>
              <a:rPr lang="en-US" altLang="pl-PL" sz="2000" dirty="0"/>
              <a:t>: Dane </a:t>
            </a:r>
            <a:r>
              <a:rPr lang="en-US" altLang="pl-PL" sz="2000" dirty="0" err="1"/>
              <a:t>rozproszone</a:t>
            </a:r>
            <a:r>
              <a:rPr lang="en-US" altLang="pl-PL" sz="2000" dirty="0"/>
              <a:t> w </a:t>
            </a:r>
            <a:r>
              <a:rPr lang="en-US" altLang="pl-PL" sz="2000" dirty="0" err="1"/>
              <a:t>różnych</a:t>
            </a:r>
            <a:r>
              <a:rPr lang="en-US" altLang="pl-PL" sz="2000" dirty="0"/>
              <a:t> </a:t>
            </a:r>
            <a:r>
              <a:rPr lang="en-US" altLang="pl-PL" sz="2000" dirty="0" err="1"/>
              <a:t>systemach</a:t>
            </a:r>
            <a:r>
              <a:rPr lang="en-US" altLang="pl-PL" sz="2000" dirty="0"/>
              <a:t> bez </a:t>
            </a:r>
            <a:r>
              <a:rPr lang="en-US" altLang="pl-PL" sz="2000" dirty="0" err="1"/>
              <a:t>wspólnego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klucza</a:t>
            </a:r>
            <a:r>
              <a:rPr lang="en-US" altLang="pl-PL" sz="2000" dirty="0"/>
              <a:t>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 dirty="0" err="1"/>
              <a:t>Konieczność</a:t>
            </a:r>
            <a:r>
              <a:rPr lang="en-US" altLang="pl-PL" sz="2000" dirty="0"/>
              <a:t> Data Governance </a:t>
            </a:r>
            <a:r>
              <a:rPr lang="en-US" altLang="pl-PL" sz="2000" dirty="0" err="1"/>
              <a:t>przed</a:t>
            </a:r>
            <a:r>
              <a:rPr lang="en-US" altLang="pl-PL" sz="2000" dirty="0"/>
              <a:t> </a:t>
            </a:r>
            <a:r>
              <a:rPr lang="en-US" altLang="pl-PL" sz="2000" dirty="0" err="1"/>
              <a:t>wdrożeniem</a:t>
            </a:r>
            <a:r>
              <a:rPr lang="en-US" altLang="pl-PL" sz="2000" dirty="0"/>
              <a:t> AI.</a:t>
            </a:r>
            <a:endParaRPr lang="pl-PL" altLang="pl-PL" sz="2000" dirty="0"/>
          </a:p>
          <a:p>
            <a:pPr>
              <a:spcBef>
                <a:spcPts val="500"/>
              </a:spcBef>
              <a:spcAft>
                <a:spcPts val="500"/>
              </a:spcAft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Wyzwania wdrożeniowe są ze sobą powiązane: bez jakości danych AI nie działa poprawnie, a bez bezpieczeństwa i zasad etycznych rośnie ryzyko biznesowe i prawne. Dlatego potrzebne są praktyki data </a:t>
            </a:r>
            <a:r>
              <a:rPr lang="pl-PL" sz="2000" dirty="0" err="1"/>
              <a:t>governance</a:t>
            </a:r>
            <a:r>
              <a:rPr lang="pl-PL" sz="2000" dirty="0"/>
              <a:t>, kontrola dostępu i mechanizmy </a:t>
            </a:r>
            <a:r>
              <a:rPr lang="pl-PL" sz="2000" dirty="0" err="1"/>
              <a:t>wyjaśnialności</a:t>
            </a:r>
            <a:r>
              <a:rPr lang="pl-PL" sz="2000" dirty="0"/>
              <a:t> (XAI) dla kluczowych decyzji.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6D801F5A-D126-A563-C37C-98D27319DF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AD2B64F8-E62C-3A27-451E-E66CB5A4475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5ED4F675-9F2D-7BF8-8F5C-F28A0E8DBD1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D8E11F-2FA9-C639-D2CD-278E3C12EFE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809016-01AF-5D8C-9BCC-23CA0AB1634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64913EF-A4F5-61DB-C61B-F3D895A1483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8686" name="Tytuł 1">
            <a:extLst>
              <a:ext uri="{FF2B5EF4-FFF2-40B4-BE49-F238E27FC236}">
                <a16:creationId xmlns:a16="http://schemas.microsoft.com/office/drawing/2014/main" id="{9C5A852D-B9BC-7D5F-6DBC-EC41EDF94F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3100" b="1">
                <a:solidFill>
                  <a:srgbClr val="FFFFFF"/>
                </a:solidFill>
              </a:rPr>
              <a:t>Wyzwanie 2: Cyberbezpieczeństwo</a:t>
            </a:r>
          </a:p>
        </p:txBody>
      </p:sp>
      <p:sp>
        <p:nvSpPr>
          <p:cNvPr id="28687" name="Symbol zastępczy tekstu 2">
            <a:extLst>
              <a:ext uri="{FF2B5EF4-FFF2-40B4-BE49-F238E27FC236}">
                <a16:creationId xmlns:a16="http://schemas.microsoft.com/office/drawing/2014/main" id="{610A8A1F-0A14-006E-78B4-D67F523C18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Shadow IT: Pracownicy tworzący własne boty bez kontroli IT.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Wrażliwość danych: Czy dane wysyłane do chmury AI (np. ChatGPT) są bezpieczne?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Ataki na algorytmy: Próby oszukania modeli decyzyjnych (Adversarial Attacks).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Rozwiązanie: Model Zero Trust Security.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DAF00ABB-39B2-C982-93EE-91F6AED6798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2CC77247-BD0C-BC55-02C1-17E30C4D23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565C84E1-9EE2-E7AE-E66F-5D3FDE688FD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AF612A-FFBC-0E21-1445-F33261107F1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EDEE15-5733-501D-BDC6-F37C06F46D5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A6B2177-21C1-64F4-D95E-A7EEC8F15D55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9710" name="Tytuł 1">
            <a:extLst>
              <a:ext uri="{FF2B5EF4-FFF2-40B4-BE49-F238E27FC236}">
                <a16:creationId xmlns:a16="http://schemas.microsoft.com/office/drawing/2014/main" id="{8706D092-8FDB-65DC-66DC-EF1FBB63FD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Wyzwanie 3: Etyka i Odpowiedzialność</a:t>
            </a:r>
          </a:p>
        </p:txBody>
      </p:sp>
      <p:sp>
        <p:nvSpPr>
          <p:cNvPr id="29711" name="Symbol zastępczy tekstu 2">
            <a:extLst>
              <a:ext uri="{FF2B5EF4-FFF2-40B4-BE49-F238E27FC236}">
                <a16:creationId xmlns:a16="http://schemas.microsoft.com/office/drawing/2014/main" id="{C152C626-1043-2C4C-11BE-7CDD9A00C8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Black Box AI: Trudność wyjaśnienia, dlaczego system odmówił klientowi kredytu (Explainable AI - XAI).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Stronniczość algorytmów (Bias): Ryzyko dyskryminacji jeśli dane treningowe były niepełne.</a:t>
            </a:r>
          </a:p>
          <a:p>
            <a:pPr>
              <a:spcBef>
                <a:spcPts val="500"/>
              </a:spcBef>
              <a:spcAft>
                <a:spcPts val="500"/>
              </a:spcAft>
            </a:pPr>
            <a:r>
              <a:rPr lang="en-US" altLang="pl-PL" sz="2000"/>
              <a:t>Odpowiedzialność prawna za decyzje autonomiczne.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D37321E7-B333-EF85-63E4-1ABC1279231E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E6270207-5BB9-958F-A3CE-F51B50FDF0B2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444D2438-9DFC-7391-623F-1DEEA9B7D288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31E81E-D8ED-A0E0-F939-3BDCFAD409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D1E817-2F61-ADFD-BFBD-941A46DE737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430C727-A118-92D6-AEF6-BD8CC48D02A4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0734" name="Tytuł 1">
            <a:extLst>
              <a:ext uri="{FF2B5EF4-FFF2-40B4-BE49-F238E27FC236}">
                <a16:creationId xmlns:a16="http://schemas.microsoft.com/office/drawing/2014/main" id="{A991E488-F53E-D7A7-F540-920E7BDA11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Podsumowanie</a:t>
            </a:r>
          </a:p>
        </p:txBody>
      </p:sp>
      <p:sp>
        <p:nvSpPr>
          <p:cNvPr id="30735" name="Symbol zastępczy tekstu 2">
            <a:extLst>
              <a:ext uri="{FF2B5EF4-FFF2-40B4-BE49-F238E27FC236}">
                <a16:creationId xmlns:a16="http://schemas.microsoft.com/office/drawing/2014/main" id="{FBB16A75-06C3-F8AF-014C-22634AF9FD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 dirty="0"/>
              <a:t>1. </a:t>
            </a:r>
            <a:r>
              <a:rPr lang="en-US" altLang="pl-PL" sz="2000" dirty="0" err="1"/>
              <a:t>Hiperautomatyzacja</a:t>
            </a:r>
            <a:r>
              <a:rPr lang="en-US" altLang="pl-PL" sz="2000" dirty="0"/>
              <a:t> to </a:t>
            </a:r>
            <a:r>
              <a:rPr lang="en-US" altLang="pl-PL" sz="2000" dirty="0" err="1"/>
              <a:t>nie</a:t>
            </a:r>
            <a:r>
              <a:rPr lang="en-US" altLang="pl-PL" sz="2000" dirty="0"/>
              <a:t> </a:t>
            </a:r>
            <a:r>
              <a:rPr lang="en-US" altLang="pl-PL" sz="2000" dirty="0" err="1"/>
              <a:t>opcja</a:t>
            </a:r>
            <a:r>
              <a:rPr lang="en-US" altLang="pl-PL" sz="2000" dirty="0"/>
              <a:t>, to </a:t>
            </a:r>
            <a:r>
              <a:rPr lang="en-US" altLang="pl-PL" sz="2000" dirty="0" err="1"/>
              <a:t>konieczność</a:t>
            </a:r>
            <a:r>
              <a:rPr lang="en-US" altLang="pl-PL" sz="2000" dirty="0"/>
              <a:t> </a:t>
            </a:r>
            <a:r>
              <a:rPr lang="en-US" altLang="pl-PL" sz="2000" dirty="0" err="1"/>
              <a:t>konkurencyjna</a:t>
            </a:r>
            <a:r>
              <a:rPr lang="en-US" altLang="pl-PL" sz="2000" dirty="0"/>
              <a:t>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 dirty="0"/>
              <a:t>2. </a:t>
            </a:r>
            <a:r>
              <a:rPr lang="en-US" altLang="pl-PL" sz="2000" dirty="0" err="1"/>
              <a:t>Przyszłość</a:t>
            </a:r>
            <a:r>
              <a:rPr lang="en-US" altLang="pl-PL" sz="2000" dirty="0"/>
              <a:t> ERP to </a:t>
            </a:r>
            <a:r>
              <a:rPr lang="en-US" altLang="pl-PL" sz="2000" dirty="0" err="1"/>
              <a:t>systemy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autonomiczne</a:t>
            </a:r>
            <a:r>
              <a:rPr lang="en-US" altLang="pl-PL" sz="2000" dirty="0"/>
              <a:t>, </a:t>
            </a:r>
            <a:r>
              <a:rPr lang="en-US" altLang="pl-PL" sz="2000" dirty="0" err="1"/>
              <a:t>działające</a:t>
            </a:r>
            <a:r>
              <a:rPr lang="en-US" altLang="pl-PL" sz="2000" dirty="0"/>
              <a:t> w </a:t>
            </a:r>
            <a:r>
              <a:rPr lang="en-US" altLang="pl-PL" sz="2000" dirty="0" err="1"/>
              <a:t>tle</a:t>
            </a:r>
            <a:r>
              <a:rPr lang="en-US" altLang="pl-PL" sz="2000" dirty="0"/>
              <a:t> (</a:t>
            </a:r>
            <a:r>
              <a:rPr lang="pl-PL" altLang="pl-PL" sz="2000" dirty="0"/>
              <a:t>„</a:t>
            </a:r>
            <a:r>
              <a:rPr lang="en-US" altLang="pl-PL" sz="2000" dirty="0"/>
              <a:t>No-UI</a:t>
            </a:r>
            <a:r>
              <a:rPr lang="pl-PL" altLang="pl-PL" sz="2000" dirty="0"/>
              <a:t>”</a:t>
            </a:r>
            <a:r>
              <a:rPr lang="en-US" altLang="pl-PL" sz="2000" dirty="0"/>
              <a:t>).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 dirty="0"/>
              <a:t>3. </a:t>
            </a:r>
            <a:r>
              <a:rPr lang="en-US" altLang="pl-PL" sz="2000" dirty="0" err="1"/>
              <a:t>Sukces</a:t>
            </a:r>
            <a:r>
              <a:rPr lang="en-US" altLang="pl-PL" sz="2000" dirty="0"/>
              <a:t> </a:t>
            </a:r>
            <a:r>
              <a:rPr lang="en-US" altLang="pl-PL" sz="2000" dirty="0" err="1"/>
              <a:t>zależy</a:t>
            </a:r>
            <a:r>
              <a:rPr lang="en-US" altLang="pl-PL" sz="2000" dirty="0"/>
              <a:t> w 20% od </a:t>
            </a:r>
            <a:r>
              <a:rPr lang="en-US" altLang="pl-PL" sz="2000" dirty="0" err="1"/>
              <a:t>technologii</a:t>
            </a:r>
            <a:r>
              <a:rPr lang="en-US" altLang="pl-PL" sz="2000" dirty="0"/>
              <a:t>, </a:t>
            </a:r>
            <a:br>
              <a:rPr lang="pl-PL" altLang="pl-PL" sz="2000" dirty="0"/>
            </a:br>
            <a:r>
              <a:rPr lang="en-US" altLang="pl-PL" sz="2000" dirty="0"/>
              <a:t>a w 80% od </a:t>
            </a:r>
            <a:r>
              <a:rPr lang="en-US" altLang="pl-PL" sz="2000" dirty="0" err="1"/>
              <a:t>ludzi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i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procesów</a:t>
            </a:r>
            <a:r>
              <a:rPr lang="en-US" altLang="pl-PL" sz="2000" dirty="0"/>
              <a:t>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 dirty="0"/>
              <a:t>4. </a:t>
            </a:r>
            <a:r>
              <a:rPr lang="en-US" altLang="pl-PL" sz="2000" dirty="0" err="1"/>
              <a:t>Menedżer</a:t>
            </a:r>
            <a:r>
              <a:rPr lang="en-US" altLang="pl-PL" sz="2000" dirty="0"/>
              <a:t> </a:t>
            </a:r>
            <a:r>
              <a:rPr lang="en-US" altLang="pl-PL" sz="2000" dirty="0" err="1"/>
              <a:t>przyszłości</a:t>
            </a:r>
            <a:r>
              <a:rPr lang="en-US" altLang="pl-PL" sz="2000" dirty="0"/>
              <a:t> to </a:t>
            </a:r>
            <a:r>
              <a:rPr lang="pl-PL" altLang="pl-PL" sz="2000" dirty="0"/>
              <a:t>„</a:t>
            </a:r>
            <a:r>
              <a:rPr lang="en-US" altLang="pl-PL" sz="2000" dirty="0" err="1"/>
              <a:t>tłumacz</a:t>
            </a:r>
            <a:r>
              <a:rPr lang="pl-PL" altLang="pl-PL" sz="2000" dirty="0"/>
              <a:t>”</a:t>
            </a:r>
            <a:r>
              <a:rPr lang="en-US" altLang="pl-PL" sz="2000" dirty="0"/>
              <a:t> </a:t>
            </a:r>
            <a:r>
              <a:rPr lang="en-US" altLang="pl-PL" sz="2000" dirty="0" err="1"/>
              <a:t>między</a:t>
            </a:r>
            <a:r>
              <a:rPr lang="en-US" altLang="pl-PL" sz="2000" dirty="0"/>
              <a:t> </a:t>
            </a:r>
            <a:r>
              <a:rPr lang="en-US" altLang="pl-PL" sz="2000" dirty="0" err="1"/>
              <a:t>biznesem</a:t>
            </a:r>
            <a:r>
              <a:rPr lang="en-US" altLang="pl-PL" sz="2000" dirty="0"/>
              <a:t> a AI.</a:t>
            </a: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endParaRPr lang="pl-PL" altLang="pl-PL" sz="2000" dirty="0"/>
          </a:p>
          <a:p>
            <a:pPr marL="0" indent="0">
              <a:spcBef>
                <a:spcPts val="500"/>
              </a:spcBef>
              <a:spcAft>
                <a:spcPts val="500"/>
              </a:spcAft>
              <a:buNone/>
            </a:pPr>
            <a:r>
              <a:rPr lang="pl-PL" sz="2000" dirty="0"/>
              <a:t>Wniosek: </a:t>
            </a:r>
            <a:r>
              <a:rPr lang="pl-PL" sz="2000" dirty="0" err="1"/>
              <a:t>hiperautomatyzacja</a:t>
            </a:r>
            <a:r>
              <a:rPr lang="pl-PL" sz="2000" dirty="0"/>
              <a:t> w ERP to transformacja procesów i kompetencji, a technologia jest narzędziem — o sukcesie decydują dane, ludzie i sposób wdrożenia.</a:t>
            </a:r>
            <a:endParaRPr lang="en-US" altLang="pl-PL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 descr="&quot;&quot;">
            <a:extLst>
              <a:ext uri="{FF2B5EF4-FFF2-40B4-BE49-F238E27FC236}">
                <a16:creationId xmlns:a16="http://schemas.microsoft.com/office/drawing/2014/main" id="{068937E7-0CDF-84B8-C853-8CE113A571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9" descr="&quot;&quot;">
            <a:extLst>
              <a:ext uri="{FF2B5EF4-FFF2-40B4-BE49-F238E27FC236}">
                <a16:creationId xmlns:a16="http://schemas.microsoft.com/office/drawing/2014/main" id="{D89DBEF6-0D05-97ED-2DF1-872631015406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638968" y="638968"/>
            <a:ext cx="6858000" cy="5580063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2" name="Rectangle 11" descr="&quot;&quot;">
            <a:extLst>
              <a:ext uri="{FF2B5EF4-FFF2-40B4-BE49-F238E27FC236}">
                <a16:creationId xmlns:a16="http://schemas.microsoft.com/office/drawing/2014/main" id="{6DA841E2-31F5-805E-3A75-6C430A1B6CD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393700" y="395287"/>
            <a:ext cx="6346825" cy="5575301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2A07CBB-058F-7769-8491-6C7C6F52A871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3D7F811-7DBA-2C6B-5CA4-2EB9A4BF26D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B2BD0B5-89F4-86DC-2D9D-C1210E9ACDE3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31758" name="Tytuł 1">
            <a:extLst>
              <a:ext uri="{FF2B5EF4-FFF2-40B4-BE49-F238E27FC236}">
                <a16:creationId xmlns:a16="http://schemas.microsoft.com/office/drawing/2014/main" id="{E368B3B8-2647-57E9-91E8-2962B2E24C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7088" y="587375"/>
            <a:ext cx="4229100" cy="3387725"/>
          </a:xfrm>
        </p:spPr>
        <p:txBody>
          <a:bodyPr anchor="b"/>
          <a:lstStyle/>
          <a:p>
            <a:pPr algn="r"/>
            <a:r>
              <a:rPr lang="en-US" altLang="pl-PL" sz="4000" b="1">
                <a:solidFill>
                  <a:srgbClr val="FFFFFF"/>
                </a:solidFill>
              </a:rPr>
              <a:t>Bibliografia i źródła</a:t>
            </a:r>
          </a:p>
        </p:txBody>
      </p:sp>
      <p:sp>
        <p:nvSpPr>
          <p:cNvPr id="31759" name="Symbol zastępczy tekstu 2">
            <a:extLst>
              <a:ext uri="{FF2B5EF4-FFF2-40B4-BE49-F238E27FC236}">
                <a16:creationId xmlns:a16="http://schemas.microsoft.com/office/drawing/2014/main" id="{38FEF105-9969-19E7-8366-34F838E648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502400" y="649288"/>
            <a:ext cx="4862513" cy="5546725"/>
          </a:xfrm>
        </p:spPr>
        <p:txBody>
          <a:bodyPr anchor="ctr"/>
          <a:lstStyle/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/>
              <a:t>1. Dąbrowska J., Gołuchowski J., </a:t>
            </a:r>
            <a:r>
              <a:rPr lang="pl-PL" altLang="pl-PL" sz="2000"/>
              <a:t>"</a:t>
            </a:r>
            <a:r>
              <a:rPr lang="en-US" altLang="pl-PL" sz="2000"/>
              <a:t>Sztuczna inteligencja w systemach informatycznych zarządzania</a:t>
            </a:r>
            <a:r>
              <a:rPr lang="pl-PL" altLang="pl-PL" sz="2000"/>
              <a:t>”</a:t>
            </a:r>
            <a:r>
              <a:rPr lang="en-US" altLang="pl-PL" sz="2000"/>
              <a:t>, UE Katowice, 2021.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/>
              <a:t>2. Gartner, </a:t>
            </a:r>
            <a:r>
              <a:rPr lang="pl-PL" altLang="pl-PL" sz="2000"/>
              <a:t>“</a:t>
            </a:r>
            <a:r>
              <a:rPr lang="en-US" altLang="pl-PL" sz="2000"/>
              <a:t>Top Strategic Technology Trends for 2024: Hyperautomation</a:t>
            </a:r>
            <a:r>
              <a:rPr lang="pl-PL" altLang="pl-PL" sz="2000"/>
              <a:t>”</a:t>
            </a:r>
            <a:r>
              <a:rPr lang="en-US" altLang="pl-PL" sz="2000"/>
              <a:t>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/>
              <a:t>3. Deloitte, Raport: </a:t>
            </a:r>
            <a:r>
              <a:rPr lang="pl-PL" altLang="pl-PL" sz="2000"/>
              <a:t>„</a:t>
            </a:r>
            <a:r>
              <a:rPr lang="en-US" altLang="pl-PL" sz="2000"/>
              <a:t>Inteligentna Automatyzacja w Polsce</a:t>
            </a:r>
            <a:r>
              <a:rPr lang="pl-PL" altLang="pl-PL" sz="2000"/>
              <a:t>”</a:t>
            </a:r>
            <a:r>
              <a:rPr lang="en-US" altLang="pl-PL" sz="2000"/>
              <a:t>, 2023.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/>
              <a:t>4. Sobczak A., </a:t>
            </a:r>
            <a:r>
              <a:rPr lang="pl-PL" altLang="pl-PL" sz="2000"/>
              <a:t>„</a:t>
            </a:r>
            <a:r>
              <a:rPr lang="en-US" altLang="pl-PL" sz="2000"/>
              <a:t>Robotyzacja procesów biznesowych (RPA)</a:t>
            </a:r>
            <a:r>
              <a:rPr lang="pl-PL" altLang="pl-PL" sz="2000"/>
              <a:t>”</a:t>
            </a:r>
            <a:r>
              <a:rPr lang="en-US" altLang="pl-PL" sz="2000"/>
              <a:t>, Onepress.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/>
              <a:t>5. Dyrektywa CSRD i raporty dotyczące ESG w systemach IT.</a:t>
            </a:r>
          </a:p>
          <a:p>
            <a:pPr marL="0" indent="0">
              <a:spcBef>
                <a:spcPts val="500"/>
              </a:spcBef>
              <a:spcAft>
                <a:spcPts val="500"/>
              </a:spcAft>
              <a:buFont typeface="Arial" panose="020B0604020202020204" pitchFamily="34" charset="0"/>
              <a:buNone/>
            </a:pPr>
            <a:r>
              <a:rPr lang="en-US" altLang="pl-PL" sz="2000"/>
              <a:t>6. Artykuły z Harvard Business Review Polska i Computerworld.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2497</Words>
  <Application>Microsoft Office PowerPoint</Application>
  <PresentationFormat>Panoramiczny</PresentationFormat>
  <Paragraphs>197</Paragraphs>
  <Slides>32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3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32</vt:i4>
      </vt:variant>
    </vt:vector>
  </HeadingPairs>
  <TitlesOfParts>
    <vt:vector size="36" baseType="lpstr">
      <vt:lpstr>Aptos</vt:lpstr>
      <vt:lpstr>Arial</vt:lpstr>
      <vt:lpstr>Aptos Display</vt:lpstr>
      <vt:lpstr>Motyw pakietu Office</vt:lpstr>
      <vt:lpstr>Hiperautomatyzacja i AI  w systemach ERP</vt:lpstr>
      <vt:lpstr>Agenda prezentacji (Część 1)</vt:lpstr>
      <vt:lpstr>Agenda prezentacji (Część 2)</vt:lpstr>
      <vt:lpstr>Ewolucja: Od System of Record do System of Intelligence</vt:lpstr>
      <vt:lpstr>Czym jest Hiperautomatyzacja?</vt:lpstr>
      <vt:lpstr>Technologiczny ekosystem iERP</vt:lpstr>
      <vt:lpstr>Rewolucja: Generatywna AI (GenAI) w ERP</vt:lpstr>
      <vt:lpstr>Chmura (Cloud) jako enabler AI</vt:lpstr>
      <vt:lpstr>Fundament: Process Mining (Górnictwo Procesów)</vt:lpstr>
      <vt:lpstr>DTO - Cyfrowy Bliźniak Organizacji</vt:lpstr>
      <vt:lpstr>Zastosowanie: Finanse (Smart Accounting)</vt:lpstr>
      <vt:lpstr>Zastosowanie: Łańcuch Dostaw (Supply Chain 4.0)</vt:lpstr>
      <vt:lpstr>Zastosowanie: Produkcja i IoT</vt:lpstr>
      <vt:lpstr>Zastosowanie: HR i Kapitał Ludzki</vt:lpstr>
      <vt:lpstr>Zastosowanie: Sprzedaż i CRM (Customer Experience)</vt:lpstr>
      <vt:lpstr>Zastosowania: Przykłady</vt:lpstr>
      <vt:lpstr>Nowy wymiar: Raportowanie ESG i AI</vt:lpstr>
      <vt:lpstr>Studium Przypadku: Polski Lider Logistyki</vt:lpstr>
      <vt:lpstr>Zastosowane rozwiązania (Hiperautomatyzacja)</vt:lpstr>
      <vt:lpstr>Osiągnięte rezultaty</vt:lpstr>
      <vt:lpstr>Jak zacząć? Strategia wdrożenia</vt:lpstr>
      <vt:lpstr>Centrum Doskonałości (CoE)</vt:lpstr>
      <vt:lpstr>Zarządzanie Zmianą (Change Management)</vt:lpstr>
      <vt:lpstr>Twarde korzyści biznesowe (Hard KPIs)</vt:lpstr>
      <vt:lpstr>Miękkie korzyści (Soft KPIs)</vt:lpstr>
      <vt:lpstr>Struktura kosztów (TCO)</vt:lpstr>
      <vt:lpstr>Korzyści, koszty i wyzwania</vt:lpstr>
      <vt:lpstr>Wyzwanie 1: Jakość Danych</vt:lpstr>
      <vt:lpstr>Wyzwanie 2: Cyberbezpieczeństwo</vt:lpstr>
      <vt:lpstr>Wyzwanie 3: Etyka i Odpowiedzialność</vt:lpstr>
      <vt:lpstr>Podsumowanie</vt:lpstr>
      <vt:lpstr>Bibliografia i źródła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Piotr Kryziński</dc:creator>
  <cp:lastModifiedBy>Piotr Kryziński</cp:lastModifiedBy>
  <cp:revision>12</cp:revision>
  <dcterms:created xsi:type="dcterms:W3CDTF">2025-11-29T08:31:03Z</dcterms:created>
  <dcterms:modified xsi:type="dcterms:W3CDTF">2026-01-26T18:28:05Z</dcterms:modified>
</cp:coreProperties>
</file>